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0b57715-b722-3319-402d-b7bb329f6799}">
          <p14:sldIdLst>
            <p14:sldId id="256"/>
            <p14:sldId id="257"/>
            <p14:sldId id="258"/>
          </p14:sldIdLst>
        </p14:section>
        <p14:section name="Station and data" id="{c10acb7d-4956-a92d-fc9f-9607f02b561b}">
          <p14:sldIdLst>
            <p14:sldId id="259"/>
            <p14:sldId id="260"/>
            <p14:sldId id="261"/>
            <p14:sldId id="262"/>
            <p14:sldId id="263"/>
          </p14:sldIdLst>
        </p14:section>
        <p14:section name="Model" id="{37159a95-0119-6426-62a4-265b452061f3}">
          <p14:sldIdLst>
            <p14:sldId id="264"/>
            <p14:sldId id="265"/>
            <p14:sldId id="266"/>
            <p14:sldId id="267"/>
            <p14:sldId id="268"/>
            <p14:sldId id="269"/>
            <p14:sldId id="270"/>
            <p14:sldId id="271"/>
          </p14:sldIdLst>
        </p14:section>
        <p14:section name="Results" id="{e7233d43-9a9a-fcba-e57d-531dc9ca8c58}">
          <p14:sldIdLst>
            <p14:sldId id="272"/>
            <p14:sldId id="273"/>
            <p14:sldId id="274"/>
            <p14:sldId id="275"/>
            <p14:sldId id="276"/>
            <p14:sldId id="277"/>
            <p14:sldId id="278"/>
            <p14:sldId id="279"/>
            <p14:sldId id="280"/>
            <p14:sldId id="281"/>
            <p14:sldId id="282"/>
            <p14:sldId id="283"/>
          </p14:sldIdLst>
        </p14:section>
        <p14:section name="Discussion" id="{f1f96ba3-1c25-9495-8458-83c4252448a4}">
          <p14:sldIdLst>
            <p14:sldId id="284"/>
            <p14:sldId id="285"/>
            <p14:sldId id="286"/>
            <p14:sldId id="287"/>
            <p14:sldId id="288"/>
            <p14:sldId id="289"/>
            <p14:sldId id="290"/>
          </p14:sldIdLst>
        </p14:section>
        <p14:section name="Backup" id="{2d734ecf-a06d-e52d-f89d-df526b104bcb}">
          <p14:sldIdLst>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one fixed station design, three Indian climates, an hourly First and Second Law simulation over three years of satellite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three questions. Stress that the design is held fixed so climate is the only physical variable. This is a feasibility study: dispatch is a fixed priority rule and economics is a reporting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answer. Coverage 80/74/70. The PV cell destroys about 98 percent of the exergy. The Second Law result: diffuse light carries less exergy, so cloudy weather raises psi_PV even as eta_PV falls. Jodhpur has the lowest psi. Battery NPV is negative everywhere. Mention the ERA5 caveat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what the station is and what data drives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electricity from the sun to the car. PV makes DC, the inverter converts it to AC. Battery on its own two-way converter (AC-coupled). Grid as backstop through a two-way meter. The EMS sets the flows each hour. At the AC bus, power in equals power out every instant: the First Law at a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comes from a datasheet or a stated design rule. Array sized so annual yield equals annual demand at a typical Indian 1,630 kWh/kWp. Battery is two standard REPT Y52 modules; 0.5C matches the PV peak. 20 degree tilt checked: under 1 percent loss versus optimum.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case: NASA POWER hourly 2021 to 2023, CERES satellite irradiance, transposed to the 20 degree plane with Hay-Davies and albedo 0.2. Three years run back to back. ERA5 reanalysis reads 21 percent low in Jodhpur and 24 percent low in Guwahati; at clear January noons it shows about 400 W/m2 where 900 to 1000 is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Checkpoint 2 profile was an assumption with 81 percent of energy in daylight. It is replaced by the hourly shape of 24,285 public-charging sessions from an open Korean dataset; there is no open Indian session-level dataset. Only the timing comes from data; the daily energy stays 222 kWh. The evening peak is what limits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the physics, subsystem by subsystem.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control volumes: PV laminate, battery pack, power electronics and wiring. Sun, grid, EV and ambient are boundary conditions. Every annual figure is a sum of hourly outputs; weather is never averaged first, because efficiency and exergy are nonlinear (Jensen's inequality).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closed-form T_c formula. Steady energy balance with convection on both faces and long-wave radiation, coupled to the efficiency, solved by Newton iteration each hour. h_free is not assumed: it is solved so the balance gives exactly the datasheet NOCT. The plain NOCT formula is this balance linearised at one test point; it runs cells 6 to 9 K 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Efficiency combines the datasheet temperature coefficient referenced to 25 C STC with the irradiance terms of the Huld 2011 model (PVGIS-5 coefficients). Huld temperature terms are dropped because they were fitted to older modules: describe it as a hybrid. Reflection is applied per component before anything else. P_DC is just the definition of efficiency rearranged; losses multiply.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Petela gives the exergy of undiluted blackbody radiation, which describes the direct beam: 0.931. Diffuse sky and ground light have the solar spectrum spread over a far larger solid angle: diluted radiation with more entropy per joule. Landsberg and Tonge give psi of epsilon. Each irradiance component gets its own factor. The dead state is hourly ambient.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PV loss splits into optical, heat and internal parts. Internal is T0 times entropy generated, asserted non-negative every hour. The identity psi equals eta divided by the exergy content of the light drives the main Second Law result. Because Ex_in is less than AG, psi is always above eta. Checkpoint 2 said the opposite; that was wrong and is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Battery is a lumped model: I squared R loss, coulomb counting with the loss included in the limits, a lumped thermal mass, Arrhenius cycle ageing. Gouy-Stodola: Joule heat generated at T_b ends at T0, total entropy generation Q over T0, so exergy destroyed equals I squared R. Converters and wiring: electricity in and out are pure exergy, so loss equals destruction.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internal checks pass for both weather sources and all three years. Specific yield and performance ratio sit in the Indian range; PR is high because soiling is not modelled. psi_PV is above the 10 to 20 percent literature band because the module is a 23 percent TOPCon and most papers use Petela for all light. The PVGIS PVcalc comparison is the open external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PV performance, exergy destruction, coverage, sensitivity, uncertainty,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table to anchor everything that follows. Note that eta_PV is almost the same in all three cities while psi_PV differs by a full point. PV-only NPV is negative in Bengaluru despite LCOE below tariff, because about half of its PV output is exported at 3 rupees per kWh.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Second Law finding. In the monsoon eta_PV falls by 0.4 to 0.9 points from weak light and warm air. psi_PV rises by 0.8 to 1.7 points. Held in all three years and in 100 percent of Monte Carlo draws. Across cities psi follows diffuse share, not sunshine.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producing hour. psi_PV climbs from about 24 percent under clear skies to about 29 percent under full overcast. Points below the band are low-sun hours with weak light and steep incidence. This is why Bengaluru, the most diffuse climate, has the highest annual psi and Jodhpur the lowest.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Checkpoint 2 model beside the final one. The diffuse split raises psi by 2.5 to 3.5 points and opens a 1.1 point spread between cities that the old model hid. The low-light factor lowers yield by 1.5 to 2.4 percent. The earlier claim that climate leaves conversion quality unchanged came from the old model's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23 to 24 percent of incident solar exergy reaches the EV, the grid or the battery. Of what is destroyed or lost, 98 percent is in the PV cell. Inside that: about 80 percent internal, 17 percent optical, 3 percent rejected heat. The ranking among the small terms is the same in every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PV dominance is close to guaranteed by structure because electrical components have psi equal to eta near 0.97. The battery is a near-reversible store: 0.07 percent of destruction. Its losses sit in the two PCS passes. All-Petela input would overstate PV destruction by 14 to 20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Annual coverage 79.7, 74.3, 70.4 percent. About half of demand met by PV directly, a quarter through the battery. Each city has a different weak season. Jodhpur, not Bengaluru, has the flattest year. No month reaches 90 percent: with measured timing the limit is the evening and night load, not sunshine.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PV covers roughly 8 to 16 h with a midday surplus that fills the battery. The battery carries the 17 to 22 h peak. The grid supplies the night and the morning ramp once the battery hits its 10 percent floor. In Jodhpur the battery lasts to about midnight; in Guwahati it runs out around 21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factor at a time. The coverage ranking survives every change except the weather source; the exergy results survive all of them. With realistic timing coverage is set by the evening load the battery can carry, so battery size and EV timing matter more than the last 10 percent of sunshine.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draw picks one weather year and samples six inputs uniformly within defensible ranges; the same draw is applied to all three cities, so shared errors cancel in the comparison. Not sampled on purpose: EV profile, tariffs, exergy model, weather dataset. Every ranking holds in 100 percent of draws; NPV is never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layer. Capex 49.8 lakh with battery, 26.2 lakh PV only; the battery is 34 percent of capex. PV-only LCOE below tariff everywhere, but PV-only NPV is negative in Bengaluru because about half of output is exported at 3 rupees. Guwahati has the least sun and the best economics because of its 8.72 tariff. Battery NPV negative in every 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expectations vs findings, assumptions, limitations,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expectations supported, two partly, one reversed. The reversal is the most interesting result: monsoon cloud was expected to degrade Second Law performance and it does the opposite.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assumptions an examiner is likely to probe. For each: where it comes from and why it is acceptable, and where the defence is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register. The wiring 2 percent combines ohmic and mismatch: PVsyst gives about 0.8 percent annual ohmic, PVWatts and Aurora use 2 percent mismatch. Do not cite the MNRE 2017 rule: it is for 60 V DC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largest remaining uncertainties are the weather source, the EV timing and the treatment of diffuse light, not the station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three-part conclusion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follow: derivations, design checks, sources,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Derivation of Petela from blackbody energy and entropy fluxes, and the dilution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Supporting numbers for design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Statements that were made in earlier drafts or preparation and their correct versions. Useful so they are not repeated in the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references; full list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823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828800"/>
          </a:xfrm>
          <a:prstGeom prst="rect">
            <a:avLst/>
          </a:prstGeom>
          <a:noFill/>
          <a:ln/>
        </p:spPr>
        <p:txBody>
          <a:bodyPr wrap="square" rtlCol="0"/>
          <a:lstStyle>
            <a:lvl1pPr indent="0" marL="0">
              <a:buNone/>
              <a:defRPr lang="en-US" sz="4000" b="1" dirty="0">
                <a:solidFill>
                  <a:srgbClr val="FFFFFF"/>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731520" y="3886200"/>
            <a:ext cx="10698480" cy="1463040"/>
          </a:xfrm>
          <a:prstGeom prst="rect">
            <a:avLst/>
          </a:prstGeom>
          <a:noFill/>
          <a:ln/>
        </p:spPr>
        <p:txBody>
          <a:bodyPr wrap="square" rtlCol="0"/>
          <a:lstStyle>
            <a:lvl1pPr indent="0" marL="0">
              <a:buNone/>
              <a:defRPr lang="en-US" sz="1800" dirty="0">
                <a:solidFill>
                  <a:srgbClr val="C9D6DF"/>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2238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lvl1pPr indent="0" marL="0">
              <a:buNone/>
              <a:defRPr lang="en-US" sz="4000" b="1" dirty="0">
                <a:solidFill>
                  <a:srgbClr val="FFFFFF"/>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731520" y="3703320"/>
            <a:ext cx="10698480" cy="914400"/>
          </a:xfrm>
          <a:prstGeom prst="rect">
            <a:avLst/>
          </a:prstGeom>
          <a:noFill/>
          <a:ln/>
        </p:spPr>
        <p:txBody>
          <a:bodyPr wrap="square" rtlCol="0"/>
          <a:lstStyle>
            <a:lvl1pPr indent="0" marL="0">
              <a:buNone/>
              <a:defRPr lang="en-US" sz="1800" dirty="0">
                <a:solidFill>
                  <a:srgbClr val="F4D58D"/>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AB8C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000" b="1" dirty="0">
                <a:solidFill>
                  <a:srgbClr val="18232F"/>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8796A3"/>
                </a:solidFill>
              </a:rPr>
              <a:t>CL207 Thermodynamics · Solar EV charging station</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AB8C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8288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Thermodynamic feasibility of a solar-powered EV charging station</a:t>
            </a:r>
            <a:endParaRPr lang="en-US" sz="4000" dirty="0"/>
          </a:p>
        </p:txBody>
      </p:sp>
      <p:sp>
        <p:nvSpPr>
          <p:cNvPr id="4" name="Text 0"/>
          <p:cNvSpPr/>
          <p:nvPr>
            <p:ph idx="101" type="body" hasCustomPrompt="1"/>
          </p:nvPr>
        </p:nvSpPr>
        <p:spPr>
          <a:xfrm>
            <a:off x="731520" y="3886200"/>
            <a:ext cx="10698480" cy="1463040"/>
          </a:xfrm>
          <a:prstGeom prst="rect">
            <a:avLst/>
          </a:prstGeom>
          <a:noFill/>
          <a:ln/>
        </p:spPr>
        <p:txBody>
          <a:bodyPr wrap="square" lIns="0" tIns="0" rIns="0" bIns="0" rtlCol="0" anchor="t"/>
          <a:lstStyle/>
          <a:p>
            <a:pPr indent="0" marL="0">
              <a:buNone/>
            </a:pPr>
            <a:r>
              <a:rPr lang="en-US" sz="1800" dirty="0">
                <a:solidFill>
                  <a:srgbClr val="C9D6DF"/>
                </a:solidFill>
              </a:rPr>
              <a:t>An hourly First- and Second-Law analysis in Jodhpur, Bengaluru and Guwahati</a:t>
            </a:r>
            <a:endParaRPr lang="en-US" sz="1800" dirty="0"/>
          </a:p>
          <a:p>
            <a:pPr indent="0" marL="0">
              <a:buNone/>
            </a:pPr>
            <a:r>
              <a:rPr lang="en-US" sz="1500" dirty="0">
                <a:solidFill>
                  <a:srgbClr val="9AB8C9"/>
                </a:solidFill>
              </a:rPr>
              <a:t>Rehan Mallik · CL207 Thermodynamics · IIT Bombay</a:t>
            </a:r>
            <a:endParaRPr lang="en-US" sz="1800" dirty="0"/>
          </a:p>
        </p:txBody>
      </p:sp>
      <p:sp>
        <p:nvSpPr>
          <p:cNvPr id="5" name="sun motif"/>
          <p:cNvSpPr/>
          <p:nvPr/>
        </p:nvSpPr>
        <p:spPr>
          <a:xfrm>
            <a:off x="9966960" y="548640"/>
            <a:ext cx="1463040" cy="1463040"/>
          </a:xfrm>
          <a:prstGeom prst="ellipse">
            <a:avLst/>
          </a:prstGeom>
          <a:solidFill>
            <a:srgbClr val="E8962E"/>
          </a:solidFill>
          <a:ln w="12700">
            <a:solidFill>
              <a:srgbClr val="E8962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Three questions about one fixed station</a:t>
            </a:r>
            <a:endParaRPr lang="en-US" sz="3000" dirty="0"/>
          </a:p>
        </p:txBody>
      </p:sp>
      <p:sp>
        <p:nvSpPr>
          <p:cNvPr id="4" name="card 1  Coverage"/>
          <p:cNvSpPr/>
          <p:nvPr/>
        </p:nvSpPr>
        <p:spPr>
          <a:xfrm>
            <a:off x="548640" y="1417320"/>
            <a:ext cx="3566160" cy="1920240"/>
          </a:xfrm>
          <a:prstGeom prst="roundRect">
            <a:avLst>
              <a:gd name="adj" fmla="val 3810"/>
            </a:avLst>
          </a:prstGeom>
          <a:solidFill>
            <a:srgbClr val="EEF3F5"/>
          </a:solidFill>
          <a:ln w="12700">
            <a:solidFill>
              <a:srgbClr val="EEF3F5"/>
            </a:solidFill>
            <a:prstDash val="solid"/>
          </a:ln>
        </p:spPr>
      </p:sp>
      <p:sp>
        <p:nvSpPr>
          <p:cNvPr id="5" name="cardtext 1  Coverage"/>
          <p:cNvSpPr txBox="1"/>
          <p:nvPr/>
        </p:nvSpPr>
        <p:spPr>
          <a:xfrm>
            <a:off x="713232" y="1545336"/>
            <a:ext cx="3236976" cy="1664208"/>
          </a:xfrm>
          <a:prstGeom prst="rect">
            <a:avLst/>
          </a:prstGeom>
          <a:noFill/>
          <a:ln/>
        </p:spPr>
        <p:txBody>
          <a:bodyPr wrap="square" lIns="0" tIns="0" rIns="0" bIns="0" rtlCol="0" anchor="t"/>
          <a:lstStyle/>
          <a:p>
            <a:pPr indent="0" marL="0">
              <a:spcAft>
                <a:spcPts val="600"/>
              </a:spcAft>
              <a:buNone/>
            </a:pPr>
            <a:r>
              <a:rPr lang="en-US" sz="2000" b="1" dirty="0">
                <a:solidFill>
                  <a:srgbClr val="18232F"/>
                </a:solidFill>
              </a:rPr>
              <a:t>1  Coverage</a:t>
            </a:r>
            <a:endParaRPr lang="en-US" sz="2000" dirty="0"/>
          </a:p>
          <a:p>
            <a:pPr indent="0" marL="0">
              <a:buNone/>
            </a:pPr>
            <a:r>
              <a:rPr lang="en-US" sz="1500" dirty="0">
                <a:solidFill>
                  <a:srgbClr val="2B3A47"/>
                </a:solidFill>
              </a:rPr>
              <a:t>How much of a fixed 222 kWh/day EV demand can solar cover, hour by hour?</a:t>
            </a:r>
            <a:endParaRPr lang="en-US" sz="2000" dirty="0"/>
          </a:p>
        </p:txBody>
      </p:sp>
      <p:sp>
        <p:nvSpPr>
          <p:cNvPr id="6" name="card 2  Second Law"/>
          <p:cNvSpPr/>
          <p:nvPr/>
        </p:nvSpPr>
        <p:spPr>
          <a:xfrm>
            <a:off x="4297680" y="1417320"/>
            <a:ext cx="3566160" cy="1920240"/>
          </a:xfrm>
          <a:prstGeom prst="roundRect">
            <a:avLst>
              <a:gd name="adj" fmla="val 3810"/>
            </a:avLst>
          </a:prstGeom>
          <a:solidFill>
            <a:srgbClr val="DCEFEC"/>
          </a:solidFill>
          <a:ln w="12700">
            <a:solidFill>
              <a:srgbClr val="DCEFEC"/>
            </a:solidFill>
            <a:prstDash val="solid"/>
          </a:ln>
        </p:spPr>
      </p:sp>
      <p:sp>
        <p:nvSpPr>
          <p:cNvPr id="7" name="cardtext 2  Second Law"/>
          <p:cNvSpPr txBox="1"/>
          <p:nvPr/>
        </p:nvSpPr>
        <p:spPr>
          <a:xfrm>
            <a:off x="4462272" y="1545336"/>
            <a:ext cx="3236976" cy="1664208"/>
          </a:xfrm>
          <a:prstGeom prst="rect">
            <a:avLst/>
          </a:prstGeom>
          <a:noFill/>
          <a:ln/>
        </p:spPr>
        <p:txBody>
          <a:bodyPr wrap="square" lIns="0" tIns="0" rIns="0" bIns="0" rtlCol="0" anchor="t"/>
          <a:lstStyle/>
          <a:p>
            <a:pPr indent="0" marL="0">
              <a:spcAft>
                <a:spcPts val="600"/>
              </a:spcAft>
              <a:buNone/>
            </a:pPr>
            <a:r>
              <a:rPr lang="en-US" sz="2000" b="1" dirty="0">
                <a:solidFill>
                  <a:srgbClr val="18232F"/>
                </a:solidFill>
              </a:rPr>
              <a:t>2  Second Law</a:t>
            </a:r>
            <a:endParaRPr lang="en-US" sz="2000" dirty="0"/>
          </a:p>
          <a:p>
            <a:pPr indent="0" marL="0">
              <a:buNone/>
            </a:pPr>
            <a:r>
              <a:rPr lang="en-US" sz="1500" dirty="0">
                <a:solidFill>
                  <a:srgbClr val="2B3A47"/>
                </a:solidFill>
              </a:rPr>
              <a:t>Where is the work potential (exergy) of the sunlight destroyed, and how does climate change that?</a:t>
            </a:r>
            <a:endParaRPr lang="en-US" sz="2000" dirty="0"/>
          </a:p>
        </p:txBody>
      </p:sp>
      <p:sp>
        <p:nvSpPr>
          <p:cNvPr id="8" name="card 3  Economics"/>
          <p:cNvSpPr/>
          <p:nvPr/>
        </p:nvSpPr>
        <p:spPr>
          <a:xfrm>
            <a:off x="8046720" y="1417320"/>
            <a:ext cx="3566160" cy="1920240"/>
          </a:xfrm>
          <a:prstGeom prst="roundRect">
            <a:avLst>
              <a:gd name="adj" fmla="val 3810"/>
            </a:avLst>
          </a:prstGeom>
          <a:solidFill>
            <a:srgbClr val="EEF3F5"/>
          </a:solidFill>
          <a:ln w="12700">
            <a:solidFill>
              <a:srgbClr val="EEF3F5"/>
            </a:solidFill>
            <a:prstDash val="solid"/>
          </a:ln>
        </p:spPr>
      </p:sp>
      <p:sp>
        <p:nvSpPr>
          <p:cNvPr id="9" name="cardtext 3  Economics"/>
          <p:cNvSpPr txBox="1"/>
          <p:nvPr/>
        </p:nvSpPr>
        <p:spPr>
          <a:xfrm>
            <a:off x="8211312" y="1545336"/>
            <a:ext cx="3236976" cy="1664208"/>
          </a:xfrm>
          <a:prstGeom prst="rect">
            <a:avLst/>
          </a:prstGeom>
          <a:noFill/>
          <a:ln/>
        </p:spPr>
        <p:txBody>
          <a:bodyPr wrap="square" lIns="0" tIns="0" rIns="0" bIns="0" rtlCol="0" anchor="t"/>
          <a:lstStyle/>
          <a:p>
            <a:pPr indent="0" marL="0">
              <a:spcAft>
                <a:spcPts val="600"/>
              </a:spcAft>
              <a:buNone/>
            </a:pPr>
            <a:r>
              <a:rPr lang="en-US" sz="2000" b="1" dirty="0">
                <a:solidFill>
                  <a:srgbClr val="18232F"/>
                </a:solidFill>
              </a:rPr>
              <a:t>3  Economics</a:t>
            </a:r>
            <a:endParaRPr lang="en-US" sz="2000" dirty="0"/>
          </a:p>
          <a:p>
            <a:pPr indent="0" marL="0">
              <a:buNone/>
            </a:pPr>
            <a:r>
              <a:rPr lang="en-US" sz="1500" dirty="0">
                <a:solidFill>
                  <a:srgbClr val="2B3A47"/>
                </a:solidFill>
              </a:rPr>
              <a:t>Does the economic verdict follow the thermodynamic one?</a:t>
            </a:r>
            <a:endParaRPr lang="en-US" sz="2000" dirty="0"/>
          </a:p>
        </p:txBody>
      </p:sp>
      <p:sp>
        <p:nvSpPr>
          <p:cNvPr id="10" name="Text 7"/>
          <p:cNvSpPr txBox="1"/>
          <p:nvPr/>
        </p:nvSpPr>
        <p:spPr>
          <a:xfrm>
            <a:off x="548640" y="3657600"/>
            <a:ext cx="11064240" cy="365760"/>
          </a:xfrm>
          <a:prstGeom prst="rect">
            <a:avLst/>
          </a:prstGeom>
          <a:noFill/>
          <a:ln/>
        </p:spPr>
        <p:txBody>
          <a:bodyPr wrap="square" lIns="0" tIns="0" rIns="0" bIns="0" rtlCol="0" anchor="ctr"/>
          <a:lstStyle/>
          <a:p>
            <a:pPr indent="0" marL="0">
              <a:buNone/>
            </a:pPr>
            <a:r>
              <a:rPr lang="en-US" sz="1600" b="1" dirty="0">
                <a:solidFill>
                  <a:srgbClr val="22384B"/>
                </a:solidFill>
              </a:rPr>
              <a:t>Same design in all three cities. Only weather, tariff and grid emission factor differ.</a:t>
            </a:r>
            <a:endParaRPr lang="en-US" sz="1600" dirty="0"/>
          </a:p>
        </p:txBody>
      </p:sp>
      <p:sp>
        <p:nvSpPr>
          <p:cNvPr id="11" name="Shape 8"/>
          <p:cNvSpPr/>
          <p:nvPr/>
        </p:nvSpPr>
        <p:spPr>
          <a:xfrm>
            <a:off x="548640" y="4297680"/>
            <a:ext cx="457200" cy="457200"/>
          </a:xfrm>
          <a:prstGeom prst="ellipse">
            <a:avLst/>
          </a:prstGeom>
          <a:solidFill>
            <a:srgbClr val="E8962E"/>
          </a:solidFill>
          <a:ln w="12700">
            <a:solidFill>
              <a:srgbClr val="FFFFFF"/>
            </a:solidFill>
            <a:prstDash val="solid"/>
          </a:ln>
        </p:spPr>
      </p:sp>
      <p:sp>
        <p:nvSpPr>
          <p:cNvPr id="12" name="Text 9"/>
          <p:cNvSpPr txBox="1"/>
          <p:nvPr/>
        </p:nvSpPr>
        <p:spPr>
          <a:xfrm>
            <a:off x="1143000" y="4206240"/>
            <a:ext cx="2926080" cy="822960"/>
          </a:xfrm>
          <a:prstGeom prst="rect">
            <a:avLst/>
          </a:prstGeom>
          <a:noFill/>
          <a:ln/>
        </p:spPr>
        <p:txBody>
          <a:bodyPr wrap="square" lIns="0" tIns="0" rIns="0" bIns="0" rtlCol="0" anchor="t"/>
          <a:lstStyle/>
          <a:p>
            <a:pPr indent="0" marL="0">
              <a:buNone/>
            </a:pPr>
            <a:r>
              <a:rPr lang="en-US" sz="1800" b="1" dirty="0">
                <a:solidFill>
                  <a:srgbClr val="000000"/>
                </a:solidFill>
              </a:rPr>
              <a:t>Jodhpur</a:t>
            </a:r>
            <a:endParaRPr lang="en-US" sz="1800" dirty="0"/>
          </a:p>
          <a:p>
            <a:pPr indent="0" marL="0">
              <a:buNone/>
            </a:pPr>
            <a:r>
              <a:rPr lang="en-US" sz="1400" dirty="0">
                <a:solidFill>
                  <a:srgbClr val="4A5966"/>
                </a:solidFill>
              </a:rPr>
              <a:t>26.3°N · hot, arid, beam-rich</a:t>
            </a:r>
            <a:endParaRPr lang="en-US" sz="1800" dirty="0"/>
          </a:p>
        </p:txBody>
      </p:sp>
      <p:sp>
        <p:nvSpPr>
          <p:cNvPr id="13" name="Shape 10"/>
          <p:cNvSpPr/>
          <p:nvPr/>
        </p:nvSpPr>
        <p:spPr>
          <a:xfrm>
            <a:off x="4297680" y="4297680"/>
            <a:ext cx="457200" cy="457200"/>
          </a:xfrm>
          <a:prstGeom prst="ellipse">
            <a:avLst/>
          </a:prstGeom>
          <a:solidFill>
            <a:srgbClr val="2A8C82"/>
          </a:solidFill>
          <a:ln w="12700">
            <a:solidFill>
              <a:srgbClr val="FFFFFF"/>
            </a:solidFill>
            <a:prstDash val="solid"/>
          </a:ln>
        </p:spPr>
      </p:sp>
      <p:sp>
        <p:nvSpPr>
          <p:cNvPr id="14" name="Text 11"/>
          <p:cNvSpPr txBox="1"/>
          <p:nvPr/>
        </p:nvSpPr>
        <p:spPr>
          <a:xfrm>
            <a:off x="4892040" y="4206240"/>
            <a:ext cx="2926080" cy="822960"/>
          </a:xfrm>
          <a:prstGeom prst="rect">
            <a:avLst/>
          </a:prstGeom>
          <a:noFill/>
          <a:ln/>
        </p:spPr>
        <p:txBody>
          <a:bodyPr wrap="square" lIns="0" tIns="0" rIns="0" bIns="0" rtlCol="0" anchor="t"/>
          <a:lstStyle/>
          <a:p>
            <a:pPr indent="0" marL="0">
              <a:buNone/>
            </a:pPr>
            <a:r>
              <a:rPr lang="en-US" sz="1800" b="1" dirty="0">
                <a:solidFill>
                  <a:srgbClr val="000000"/>
                </a:solidFill>
              </a:rPr>
              <a:t>Bengaluru</a:t>
            </a:r>
            <a:endParaRPr lang="en-US" sz="1800" dirty="0"/>
          </a:p>
          <a:p>
            <a:pPr indent="0" marL="0">
              <a:buNone/>
            </a:pPr>
            <a:r>
              <a:rPr lang="en-US" sz="1400" dirty="0">
                <a:solidFill>
                  <a:srgbClr val="4A5966"/>
                </a:solidFill>
              </a:rPr>
              <a:t>13.0°N · mild, two monsoons</a:t>
            </a:r>
            <a:endParaRPr lang="en-US" sz="1800" dirty="0"/>
          </a:p>
        </p:txBody>
      </p:sp>
      <p:sp>
        <p:nvSpPr>
          <p:cNvPr id="15" name="Shape 12"/>
          <p:cNvSpPr/>
          <p:nvPr/>
        </p:nvSpPr>
        <p:spPr>
          <a:xfrm>
            <a:off x="8046720" y="4297680"/>
            <a:ext cx="457200" cy="457200"/>
          </a:xfrm>
          <a:prstGeom prst="ellipse">
            <a:avLst/>
          </a:prstGeom>
          <a:solidFill>
            <a:srgbClr val="5B7A99"/>
          </a:solidFill>
          <a:ln w="12700">
            <a:solidFill>
              <a:srgbClr val="FFFFFF"/>
            </a:solidFill>
            <a:prstDash val="solid"/>
          </a:ln>
        </p:spPr>
      </p:sp>
      <p:sp>
        <p:nvSpPr>
          <p:cNvPr id="16" name="Text 13"/>
          <p:cNvSpPr txBox="1"/>
          <p:nvPr/>
        </p:nvSpPr>
        <p:spPr>
          <a:xfrm>
            <a:off x="8641080" y="4206240"/>
            <a:ext cx="2926080" cy="822960"/>
          </a:xfrm>
          <a:prstGeom prst="rect">
            <a:avLst/>
          </a:prstGeom>
          <a:noFill/>
          <a:ln/>
        </p:spPr>
        <p:txBody>
          <a:bodyPr wrap="square" lIns="0" tIns="0" rIns="0" bIns="0" rtlCol="0" anchor="t"/>
          <a:lstStyle/>
          <a:p>
            <a:pPr indent="0" marL="0">
              <a:buNone/>
            </a:pPr>
            <a:r>
              <a:rPr lang="en-US" sz="1800" b="1" dirty="0">
                <a:solidFill>
                  <a:srgbClr val="000000"/>
                </a:solidFill>
              </a:rPr>
              <a:t>Guwahati</a:t>
            </a:r>
            <a:endParaRPr lang="en-US" sz="1800" dirty="0"/>
          </a:p>
          <a:p>
            <a:pPr indent="0" marL="0">
              <a:buNone/>
            </a:pPr>
            <a:r>
              <a:rPr lang="en-US" sz="1400" dirty="0">
                <a:solidFill>
                  <a:srgbClr val="4A5966"/>
                </a:solidFill>
              </a:rPr>
              <a:t>26.2°N · humid, heavy monsoon</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Answer: 70–80 % coverage; the sunniest city has the lowest ψ_PV</a:t>
            </a:r>
            <a:endParaRPr lang="en-US" sz="3000" dirty="0"/>
          </a:p>
        </p:txBody>
      </p:sp>
      <p:sp>
        <p:nvSpPr>
          <p:cNvPr id="4" name="stat Jodhpur solar coverage"/>
          <p:cNvSpPr txBox="1"/>
          <p:nvPr/>
        </p:nvSpPr>
        <p:spPr>
          <a:xfrm>
            <a:off x="548640" y="1371600"/>
            <a:ext cx="2743200" cy="1234440"/>
          </a:xfrm>
          <a:prstGeom prst="rect">
            <a:avLst/>
          </a:prstGeom>
          <a:noFill/>
          <a:ln/>
        </p:spPr>
        <p:txBody>
          <a:bodyPr wrap="square" lIns="0" tIns="0" rIns="0" bIns="0" rtlCol="0" anchor="t"/>
          <a:lstStyle/>
          <a:p>
            <a:pPr indent="0" marL="0">
              <a:buNone/>
            </a:pPr>
            <a:r>
              <a:rPr lang="en-US" sz="4000" b="1" dirty="0">
                <a:solidFill>
                  <a:srgbClr val="E8962E"/>
                </a:solidFill>
                <a:latin typeface="Cambria" pitchFamily="34" charset="0"/>
                <a:ea typeface="Cambria" pitchFamily="34" charset="-122"/>
                <a:cs typeface="Cambria" pitchFamily="34" charset="-120"/>
              </a:rPr>
              <a:t>79.7 %</a:t>
            </a:r>
            <a:endParaRPr lang="en-US" sz="4000" dirty="0"/>
          </a:p>
          <a:p>
            <a:pPr indent="0" marL="0">
              <a:buNone/>
            </a:pPr>
            <a:r>
              <a:rPr lang="en-US" sz="1300" dirty="0">
                <a:solidFill>
                  <a:srgbClr val="4A5966"/>
                </a:solidFill>
              </a:rPr>
              <a:t>Jodhpur solar coverage</a:t>
            </a:r>
            <a:endParaRPr lang="en-US" sz="4000" dirty="0"/>
          </a:p>
        </p:txBody>
      </p:sp>
      <p:sp>
        <p:nvSpPr>
          <p:cNvPr id="5" name="stat Bengaluru"/>
          <p:cNvSpPr txBox="1"/>
          <p:nvPr/>
        </p:nvSpPr>
        <p:spPr>
          <a:xfrm>
            <a:off x="3337560" y="1371600"/>
            <a:ext cx="2743200" cy="1234440"/>
          </a:xfrm>
          <a:prstGeom prst="rect">
            <a:avLst/>
          </a:prstGeom>
          <a:noFill/>
          <a:ln/>
        </p:spPr>
        <p:txBody>
          <a:bodyPr wrap="square" lIns="0" tIns="0" rIns="0" bIns="0" rtlCol="0" anchor="t"/>
          <a:lstStyle/>
          <a:p>
            <a:pPr indent="0" marL="0">
              <a:buNone/>
            </a:pPr>
            <a:r>
              <a:rPr lang="en-US" sz="4000" b="1" dirty="0">
                <a:solidFill>
                  <a:srgbClr val="2A8C82"/>
                </a:solidFill>
                <a:latin typeface="Cambria" pitchFamily="34" charset="0"/>
                <a:ea typeface="Cambria" pitchFamily="34" charset="-122"/>
                <a:cs typeface="Cambria" pitchFamily="34" charset="-120"/>
              </a:rPr>
              <a:t>74.3 %</a:t>
            </a:r>
            <a:endParaRPr lang="en-US" sz="4000" dirty="0"/>
          </a:p>
          <a:p>
            <a:pPr indent="0" marL="0">
              <a:buNone/>
            </a:pPr>
            <a:r>
              <a:rPr lang="en-US" sz="1300" dirty="0">
                <a:solidFill>
                  <a:srgbClr val="4A5966"/>
                </a:solidFill>
              </a:rPr>
              <a:t>Bengaluru</a:t>
            </a:r>
            <a:endParaRPr lang="en-US" sz="4000" dirty="0"/>
          </a:p>
        </p:txBody>
      </p:sp>
      <p:sp>
        <p:nvSpPr>
          <p:cNvPr id="6" name="stat Guwahati"/>
          <p:cNvSpPr txBox="1"/>
          <p:nvPr/>
        </p:nvSpPr>
        <p:spPr>
          <a:xfrm>
            <a:off x="6126480" y="1371600"/>
            <a:ext cx="2743200" cy="1234440"/>
          </a:xfrm>
          <a:prstGeom prst="rect">
            <a:avLst/>
          </a:prstGeom>
          <a:noFill/>
          <a:ln/>
        </p:spPr>
        <p:txBody>
          <a:bodyPr wrap="square" lIns="0" tIns="0" rIns="0" bIns="0" rtlCol="0" anchor="t"/>
          <a:lstStyle/>
          <a:p>
            <a:pPr indent="0" marL="0">
              <a:buNone/>
            </a:pPr>
            <a:r>
              <a:rPr lang="en-US" sz="4000" b="1" dirty="0">
                <a:solidFill>
                  <a:srgbClr val="5B7A99"/>
                </a:solidFill>
                <a:latin typeface="Cambria" pitchFamily="34" charset="0"/>
                <a:ea typeface="Cambria" pitchFamily="34" charset="-122"/>
                <a:cs typeface="Cambria" pitchFamily="34" charset="-120"/>
              </a:rPr>
              <a:t>70.4 %</a:t>
            </a:r>
            <a:endParaRPr lang="en-US" sz="4000" dirty="0"/>
          </a:p>
          <a:p>
            <a:pPr indent="0" marL="0">
              <a:buNone/>
            </a:pPr>
            <a:r>
              <a:rPr lang="en-US" sz="1300" dirty="0">
                <a:solidFill>
                  <a:srgbClr val="4A5966"/>
                </a:solidFill>
              </a:rPr>
              <a:t>Guwahati</a:t>
            </a:r>
            <a:endParaRPr lang="en-US" sz="4000" dirty="0"/>
          </a:p>
        </p:txBody>
      </p:sp>
      <p:sp>
        <p:nvSpPr>
          <p:cNvPr id="7" name="stat of exergy destroyed in the PV cell"/>
          <p:cNvSpPr txBox="1"/>
          <p:nvPr/>
        </p:nvSpPr>
        <p:spPr>
          <a:xfrm>
            <a:off x="8915400" y="1371600"/>
            <a:ext cx="2743200" cy="1234440"/>
          </a:xfrm>
          <a:prstGeom prst="rect">
            <a:avLst/>
          </a:prstGeom>
          <a:noFill/>
          <a:ln/>
        </p:spPr>
        <p:txBody>
          <a:bodyPr wrap="square" lIns="0" tIns="0" rIns="0" bIns="0" rtlCol="0" anchor="t"/>
          <a:lstStyle/>
          <a:p>
            <a:pPr indent="0" marL="0">
              <a:buNone/>
            </a:pPr>
            <a:r>
              <a:rPr lang="en-US" sz="4000" b="1" dirty="0">
                <a:solidFill>
                  <a:srgbClr val="C44536"/>
                </a:solidFill>
                <a:latin typeface="Cambria" pitchFamily="34" charset="0"/>
                <a:ea typeface="Cambria" pitchFamily="34" charset="-122"/>
                <a:cs typeface="Cambria" pitchFamily="34" charset="-120"/>
              </a:rPr>
              <a:t>≈ 98 %</a:t>
            </a:r>
            <a:endParaRPr lang="en-US" sz="4000" dirty="0"/>
          </a:p>
          <a:p>
            <a:pPr indent="0" marL="0">
              <a:buNone/>
            </a:pPr>
            <a:r>
              <a:rPr lang="en-US" sz="1300" dirty="0">
                <a:solidFill>
                  <a:srgbClr val="4A5966"/>
                </a:solidFill>
              </a:rPr>
              <a:t>of exergy destroyed in the PV cell</a:t>
            </a:r>
            <a:endParaRPr lang="en-US" sz="4000" dirty="0"/>
          </a:p>
        </p:txBody>
      </p:sp>
      <p:sp>
        <p:nvSpPr>
          <p:cNvPr id="8" name="body"/>
          <p:cNvSpPr txBox="1"/>
          <p:nvPr/>
        </p:nvSpPr>
        <p:spPr>
          <a:xfrm>
            <a:off x="548640" y="2880360"/>
            <a:ext cx="11064240" cy="2834640"/>
          </a:xfrm>
          <a:prstGeom prst="rect">
            <a:avLst/>
          </a:prstGeom>
          <a:noFill/>
          <a:ln/>
        </p:spPr>
        <p:txBody>
          <a:bodyPr wrap="square" lIns="0" tIns="0" rIns="0" bIns="0" rtlCol="0" anchor="t"/>
          <a:lstStyle/>
          <a:p>
            <a:pPr marL="203200" indent="-203200">
              <a:buSzPct val="100000"/>
              <a:buChar char="•"/>
            </a:pPr>
            <a:r>
              <a:rPr lang="en-US" sz="1700" b="1" dirty="0">
                <a:solidFill>
                  <a:srgbClr val="18232F"/>
                </a:solidFill>
              </a:rPr>
              <a:t>Second Law result: </a:t>
            </a:r>
            <a:pPr indent="0" marL="0">
              <a:spcAft>
                <a:spcPts val="1200"/>
              </a:spcAft>
              <a:buNone/>
            </a:pPr>
            <a:r>
              <a:rPr lang="en-US" sz="1700" dirty="0">
                <a:solidFill>
                  <a:srgbClr val="2B3A47"/>
                </a:solidFill>
              </a:rPr>
              <a:t>in cloudy weather η_PV falls but ψ_PV rises, because diffuse light carries only 0.67–0.80 of its energy as exergy (beam 0.93). Jodhpur, the sunniest city, has the lowest ψ_PV: 24.8 % vs 25.9 % in Bengaluru.</a:t>
            </a:r>
            <a:endParaRPr lang="en-US" sz="1700" dirty="0"/>
          </a:p>
          <a:p>
            <a:pPr marL="203200" indent="-203200">
              <a:buSzPct val="100000"/>
              <a:buChar char="•"/>
            </a:pPr>
            <a:r>
              <a:rPr lang="en-US" sz="1700" b="1" dirty="0">
                <a:solidFill>
                  <a:srgbClr val="18232F"/>
                </a:solidFill>
              </a:rPr>
              <a:t>Robustness: </a:t>
            </a:r>
            <a:pPr indent="0" marL="0">
              <a:spcAft>
                <a:spcPts val="1200"/>
              </a:spcAft>
              <a:buNone/>
            </a:pPr>
            <a:r>
              <a:rPr lang="en-US" sz="1700" dirty="0">
                <a:solidFill>
                  <a:srgbClr val="2B3A47"/>
                </a:solidFill>
              </a:rPr>
              <a:t>all rankings hold in all three weather years and in 100 % of 200 paired Monte Carlo draws, but the coverage ranking flips on ERA5 reanalysis data.</a:t>
            </a:r>
            <a:endParaRPr lang="en-US" sz="1700" dirty="0"/>
          </a:p>
          <a:p>
            <a:pPr marL="203200" indent="-203200">
              <a:buSzPct val="100000"/>
              <a:buChar char="•"/>
            </a:pPr>
            <a:r>
              <a:rPr lang="en-US" sz="1700" b="1" dirty="0">
                <a:solidFill>
                  <a:srgbClr val="18232F"/>
                </a:solidFill>
              </a:rPr>
              <a:t>Economics: </a:t>
            </a:r>
            <a:pPr indent="0" marL="0">
              <a:spcAft>
                <a:spcPts val="1200"/>
              </a:spcAft>
              <a:buNone/>
            </a:pPr>
            <a:r>
              <a:rPr lang="en-US" sz="1700" dirty="0">
                <a:solidFill>
                  <a:srgbClr val="2B3A47"/>
                </a:solidFill>
              </a:rPr>
              <a:t>PV alone generates below the tariff everywhere. Adding the battery makes NPV negative in every city; the tariff, not the climate, sets the ranking.</a:t>
            </a:r>
            <a:endParaRPr lang="en-US" sz="17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Station and input data</a:t>
            </a:r>
            <a:endParaRPr lang="en-US" sz="4000" dirty="0"/>
          </a:p>
        </p:txBody>
      </p:sp>
      <p:sp>
        <p:nvSpPr>
          <p:cNvPr id="4" name="Text 0"/>
          <p:cNvSpPr/>
          <p:nvPr>
            <p:ph idx="101" type="body" hasCustomPrompt="1"/>
          </p:nvPr>
        </p:nvSpPr>
        <p:spPr>
          <a:xfrm>
            <a:off x="731520" y="3703320"/>
            <a:ext cx="10698480" cy="914400"/>
          </a:xfrm>
          <a:prstGeom prst="rect">
            <a:avLst/>
          </a:prstGeom>
          <a:noFill/>
          <a:ln/>
        </p:spPr>
        <p:txBody>
          <a:bodyPr wrap="square" lIns="0" tIns="0" rIns="0" bIns="0" rtlCol="0" anchor="t"/>
          <a:lstStyle/>
          <a:p>
            <a:pPr indent="0" marL="0">
              <a:buNone/>
            </a:pPr>
            <a:r>
              <a:rPr lang="en-US" sz="1800" dirty="0">
                <a:solidFill>
                  <a:srgbClr val="F4D58D"/>
                </a:solidFill>
              </a:rPr>
              <a:t>One fixed design · three years of satellite weather · measured EV timing</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AB8C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How the station works: every flow meets at one AC bus</a:t>
            </a:r>
            <a:endParaRPr lang="en-US" sz="3000" dirty="0"/>
          </a:p>
        </p:txBody>
      </p:sp>
      <p:sp>
        <p:nvSpPr>
          <p:cNvPr id="4" name="node PV array"/>
          <p:cNvSpPr/>
          <p:nvPr/>
        </p:nvSpPr>
        <p:spPr>
          <a:xfrm>
            <a:off x="731520" y="1371600"/>
            <a:ext cx="2377440" cy="914400"/>
          </a:xfrm>
          <a:prstGeom prst="roundRect">
            <a:avLst>
              <a:gd name="adj" fmla="val 8000"/>
            </a:avLst>
          </a:prstGeom>
          <a:solidFill>
            <a:srgbClr val="E8962E"/>
          </a:solidFill>
          <a:ln w="12700">
            <a:solidFill>
              <a:srgbClr val="E8962E"/>
            </a:solidFill>
            <a:prstDash val="solid"/>
          </a:ln>
        </p:spPr>
      </p:sp>
      <p:sp>
        <p:nvSpPr>
          <p:cNvPr id="5" name="nodetext PV array"/>
          <p:cNvSpPr txBox="1"/>
          <p:nvPr/>
        </p:nvSpPr>
        <p:spPr>
          <a:xfrm>
            <a:off x="731520" y="1371600"/>
            <a:ext cx="2377440" cy="91440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PV array</a:t>
            </a:r>
            <a:endParaRPr lang="en-US" sz="1600" dirty="0"/>
          </a:p>
          <a:p>
            <a:pPr algn="ctr" indent="0" marL="0">
              <a:buNone/>
            </a:pPr>
            <a:r>
              <a:rPr lang="en-US" sz="1200" dirty="0">
                <a:solidFill>
                  <a:srgbClr val="FFFFFF"/>
                </a:solidFill>
              </a:rPr>
              <a:t>80 × 620 W = 49.6 kWp</a:t>
            </a:r>
            <a:endParaRPr lang="en-US" sz="1600" dirty="0"/>
          </a:p>
        </p:txBody>
      </p:sp>
      <p:sp>
        <p:nvSpPr>
          <p:cNvPr id="6" name="node PV inverter"/>
          <p:cNvSpPr/>
          <p:nvPr/>
        </p:nvSpPr>
        <p:spPr>
          <a:xfrm>
            <a:off x="731520" y="2834640"/>
            <a:ext cx="2377440" cy="822960"/>
          </a:xfrm>
          <a:prstGeom prst="roundRect">
            <a:avLst>
              <a:gd name="adj" fmla="val 8889"/>
            </a:avLst>
          </a:prstGeom>
          <a:solidFill>
            <a:srgbClr val="22384B"/>
          </a:solidFill>
          <a:ln w="12700">
            <a:solidFill>
              <a:srgbClr val="22384B"/>
            </a:solidFill>
            <a:prstDash val="solid"/>
          </a:ln>
        </p:spPr>
      </p:sp>
      <p:sp>
        <p:nvSpPr>
          <p:cNvPr id="7" name="nodetext PV inverter"/>
          <p:cNvSpPr txBox="1"/>
          <p:nvPr/>
        </p:nvSpPr>
        <p:spPr>
          <a:xfrm>
            <a:off x="731520" y="2834640"/>
            <a:ext cx="2377440" cy="82296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PV inverter</a:t>
            </a:r>
            <a:endParaRPr lang="en-US" sz="1600" dirty="0"/>
          </a:p>
          <a:p>
            <a:pPr algn="ctr" indent="0" marL="0">
              <a:buNone/>
            </a:pPr>
            <a:r>
              <a:rPr lang="en-US" sz="1200" dirty="0">
                <a:solidFill>
                  <a:srgbClr val="FFFFFF"/>
                </a:solidFill>
              </a:rPr>
              <a:t>DC → AC · 0.97</a:t>
            </a:r>
            <a:endParaRPr lang="en-US" sz="1600" dirty="0"/>
          </a:p>
        </p:txBody>
      </p:sp>
      <p:sp>
        <p:nvSpPr>
          <p:cNvPr id="8" name="node Battery"/>
          <p:cNvSpPr/>
          <p:nvPr/>
        </p:nvSpPr>
        <p:spPr>
          <a:xfrm>
            <a:off x="4023360" y="1371600"/>
            <a:ext cx="2377440" cy="914400"/>
          </a:xfrm>
          <a:prstGeom prst="roundRect">
            <a:avLst>
              <a:gd name="adj" fmla="val 8000"/>
            </a:avLst>
          </a:prstGeom>
          <a:solidFill>
            <a:srgbClr val="2A8C82"/>
          </a:solidFill>
          <a:ln w="12700">
            <a:solidFill>
              <a:srgbClr val="2A8C82"/>
            </a:solidFill>
            <a:prstDash val="solid"/>
          </a:ln>
        </p:spPr>
      </p:sp>
      <p:sp>
        <p:nvSpPr>
          <p:cNvPr id="9" name="nodetext Battery"/>
          <p:cNvSpPr txBox="1"/>
          <p:nvPr/>
        </p:nvSpPr>
        <p:spPr>
          <a:xfrm>
            <a:off x="4023360" y="1371600"/>
            <a:ext cx="2377440" cy="91440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Battery</a:t>
            </a:r>
            <a:endParaRPr lang="en-US" sz="1600" dirty="0"/>
          </a:p>
          <a:p>
            <a:pPr algn="ctr" indent="0" marL="0">
              <a:buNone/>
            </a:pPr>
            <a:r>
              <a:rPr lang="en-US" sz="1200" dirty="0">
                <a:solidFill>
                  <a:srgbClr val="FFFFFF"/>
                </a:solidFill>
              </a:rPr>
              <a:t>104 LFP cells · 93.2 kWh</a:t>
            </a:r>
            <a:endParaRPr lang="en-US" sz="1600" dirty="0"/>
          </a:p>
        </p:txBody>
      </p:sp>
      <p:sp>
        <p:nvSpPr>
          <p:cNvPr id="10" name="node Battery PCS"/>
          <p:cNvSpPr/>
          <p:nvPr/>
        </p:nvSpPr>
        <p:spPr>
          <a:xfrm>
            <a:off x="4023360" y="2834640"/>
            <a:ext cx="2377440" cy="822960"/>
          </a:xfrm>
          <a:prstGeom prst="roundRect">
            <a:avLst>
              <a:gd name="adj" fmla="val 8889"/>
            </a:avLst>
          </a:prstGeom>
          <a:solidFill>
            <a:srgbClr val="22384B"/>
          </a:solidFill>
          <a:ln w="12700">
            <a:solidFill>
              <a:srgbClr val="22384B"/>
            </a:solidFill>
            <a:prstDash val="solid"/>
          </a:ln>
        </p:spPr>
      </p:sp>
      <p:sp>
        <p:nvSpPr>
          <p:cNvPr id="11" name="nodetext Battery PCS"/>
          <p:cNvSpPr txBox="1"/>
          <p:nvPr/>
        </p:nvSpPr>
        <p:spPr>
          <a:xfrm>
            <a:off x="4023360" y="2834640"/>
            <a:ext cx="2377440" cy="82296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Battery PCS</a:t>
            </a:r>
            <a:endParaRPr lang="en-US" sz="1600" dirty="0"/>
          </a:p>
          <a:p>
            <a:pPr algn="ctr" indent="0" marL="0">
              <a:buNone/>
            </a:pPr>
            <a:r>
              <a:rPr lang="en-US" sz="1200" dirty="0">
                <a:solidFill>
                  <a:srgbClr val="FFFFFF"/>
                </a:solidFill>
              </a:rPr>
              <a:t>two-way · 0.97 each way</a:t>
            </a:r>
            <a:endParaRPr lang="en-US" sz="1600" dirty="0"/>
          </a:p>
        </p:txBody>
      </p:sp>
      <p:sp>
        <p:nvSpPr>
          <p:cNvPr id="12" name="node Grid"/>
          <p:cNvSpPr/>
          <p:nvPr/>
        </p:nvSpPr>
        <p:spPr>
          <a:xfrm>
            <a:off x="7315200" y="1371600"/>
            <a:ext cx="2377440" cy="914400"/>
          </a:xfrm>
          <a:prstGeom prst="roundRect">
            <a:avLst>
              <a:gd name="adj" fmla="val 8000"/>
            </a:avLst>
          </a:prstGeom>
          <a:solidFill>
            <a:srgbClr val="5B7A99"/>
          </a:solidFill>
          <a:ln w="12700">
            <a:solidFill>
              <a:srgbClr val="5B7A99"/>
            </a:solidFill>
            <a:prstDash val="solid"/>
          </a:ln>
        </p:spPr>
      </p:sp>
      <p:sp>
        <p:nvSpPr>
          <p:cNvPr id="13" name="nodetext Grid"/>
          <p:cNvSpPr txBox="1"/>
          <p:nvPr/>
        </p:nvSpPr>
        <p:spPr>
          <a:xfrm>
            <a:off x="7315200" y="1371600"/>
            <a:ext cx="2377440" cy="91440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Grid</a:t>
            </a:r>
            <a:endParaRPr lang="en-US" sz="1600" dirty="0"/>
          </a:p>
          <a:p>
            <a:pPr algn="ctr" indent="0" marL="0">
              <a:buNone/>
            </a:pPr>
            <a:r>
              <a:rPr lang="en-US" sz="1200" dirty="0">
                <a:solidFill>
                  <a:srgbClr val="FFFFFF"/>
                </a:solidFill>
              </a:rPr>
              <a:t>import / export</a:t>
            </a:r>
            <a:endParaRPr lang="en-US" sz="1600" dirty="0"/>
          </a:p>
        </p:txBody>
      </p:sp>
      <p:sp>
        <p:nvSpPr>
          <p:cNvPr id="14" name="node Meter"/>
          <p:cNvSpPr/>
          <p:nvPr/>
        </p:nvSpPr>
        <p:spPr>
          <a:xfrm>
            <a:off x="7315200" y="2834640"/>
            <a:ext cx="2377440" cy="822960"/>
          </a:xfrm>
          <a:prstGeom prst="roundRect">
            <a:avLst>
              <a:gd name="adj" fmla="val 8889"/>
            </a:avLst>
          </a:prstGeom>
          <a:solidFill>
            <a:srgbClr val="22384B"/>
          </a:solidFill>
          <a:ln w="12700">
            <a:solidFill>
              <a:srgbClr val="22384B"/>
            </a:solidFill>
            <a:prstDash val="solid"/>
          </a:ln>
        </p:spPr>
      </p:sp>
      <p:sp>
        <p:nvSpPr>
          <p:cNvPr id="15" name="nodetext Meter"/>
          <p:cNvSpPr txBox="1"/>
          <p:nvPr/>
        </p:nvSpPr>
        <p:spPr>
          <a:xfrm>
            <a:off x="7315200" y="2834640"/>
            <a:ext cx="2377440" cy="82296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Meter</a:t>
            </a:r>
            <a:endParaRPr lang="en-US" sz="1600" dirty="0"/>
          </a:p>
          <a:p>
            <a:pPr algn="ctr" indent="0" marL="0">
              <a:buNone/>
            </a:pPr>
            <a:r>
              <a:rPr lang="en-US" sz="1200" dirty="0">
                <a:solidFill>
                  <a:srgbClr val="FFFFFF"/>
                </a:solidFill>
              </a:rPr>
              <a:t>counts both ways</a:t>
            </a:r>
            <a:endParaRPr lang="en-US" sz="1600" dirty="0"/>
          </a:p>
        </p:txBody>
      </p:sp>
      <p:sp>
        <p:nvSpPr>
          <p:cNvPr id="16" name="ac bus"/>
          <p:cNvSpPr/>
          <p:nvPr/>
        </p:nvSpPr>
        <p:spPr>
          <a:xfrm>
            <a:off x="731520" y="4160520"/>
            <a:ext cx="8961120" cy="457200"/>
          </a:xfrm>
          <a:prstGeom prst="rect">
            <a:avLst/>
          </a:prstGeom>
          <a:solidFill>
            <a:srgbClr val="D8E2E8"/>
          </a:solidFill>
          <a:ln w="12700">
            <a:solidFill>
              <a:srgbClr val="D8E2E8"/>
            </a:solidFill>
            <a:prstDash val="solid"/>
          </a:ln>
        </p:spPr>
      </p:sp>
      <p:sp>
        <p:nvSpPr>
          <p:cNvPr id="17" name="Text 14"/>
          <p:cNvSpPr txBox="1"/>
          <p:nvPr/>
        </p:nvSpPr>
        <p:spPr>
          <a:xfrm>
            <a:off x="731520" y="4160520"/>
            <a:ext cx="8961120" cy="457200"/>
          </a:xfrm>
          <a:prstGeom prst="rect">
            <a:avLst/>
          </a:prstGeom>
          <a:noFill/>
          <a:ln/>
        </p:spPr>
        <p:txBody>
          <a:bodyPr wrap="square" lIns="0" tIns="0" rIns="0" bIns="0" rtlCol="0" anchor="ctr"/>
          <a:lstStyle/>
          <a:p>
            <a:pPr algn="ctr" indent="0" marL="0">
              <a:buNone/>
            </a:pPr>
            <a:r>
              <a:rPr lang="en-US" sz="1400" b="1" dirty="0">
                <a:solidFill>
                  <a:srgbClr val="18232F"/>
                </a:solidFill>
              </a:rPr>
              <a:t>AC bus (415 V three-phase): power in = power out, every instant</a:t>
            </a:r>
            <a:endParaRPr lang="en-US" sz="1400" dirty="0"/>
          </a:p>
        </p:txBody>
      </p:sp>
      <p:sp>
        <p:nvSpPr>
          <p:cNvPr id="18" name="node EV chargers"/>
          <p:cNvSpPr/>
          <p:nvPr/>
        </p:nvSpPr>
        <p:spPr>
          <a:xfrm>
            <a:off x="3108960" y="5074920"/>
            <a:ext cx="2743200" cy="822960"/>
          </a:xfrm>
          <a:prstGeom prst="roundRect">
            <a:avLst>
              <a:gd name="adj" fmla="val 8889"/>
            </a:avLst>
          </a:prstGeom>
          <a:solidFill>
            <a:srgbClr val="C44536"/>
          </a:solidFill>
          <a:ln w="12700">
            <a:solidFill>
              <a:srgbClr val="C44536"/>
            </a:solidFill>
            <a:prstDash val="solid"/>
          </a:ln>
        </p:spPr>
      </p:sp>
      <p:sp>
        <p:nvSpPr>
          <p:cNvPr id="19" name="nodetext EV chargers"/>
          <p:cNvSpPr txBox="1"/>
          <p:nvPr/>
        </p:nvSpPr>
        <p:spPr>
          <a:xfrm>
            <a:off x="3108960" y="5074920"/>
            <a:ext cx="2743200" cy="822960"/>
          </a:xfrm>
          <a:prstGeom prst="rect">
            <a:avLst/>
          </a:prstGeom>
          <a:noFill/>
          <a:ln/>
        </p:spPr>
        <p:txBody>
          <a:bodyPr wrap="square" lIns="25400" tIns="25400" rIns="25400" bIns="25400" rtlCol="0" anchor="ctr"/>
          <a:lstStyle/>
          <a:p>
            <a:pPr algn="ctr" indent="0" marL="0">
              <a:buNone/>
            </a:pPr>
            <a:r>
              <a:rPr lang="en-US" sz="1600" b="1" dirty="0">
                <a:solidFill>
                  <a:srgbClr val="FFFFFF"/>
                </a:solidFill>
              </a:rPr>
              <a:t>EV chargers</a:t>
            </a:r>
            <a:endParaRPr lang="en-US" sz="1600" dirty="0"/>
          </a:p>
          <a:p>
            <a:pPr algn="ctr" indent="0" marL="0">
              <a:buNone/>
            </a:pPr>
            <a:r>
              <a:rPr lang="en-US" sz="1200" dirty="0">
                <a:solidFill>
                  <a:srgbClr val="FFFFFF"/>
                </a:solidFill>
              </a:rPr>
              <a:t>222 kWh/day</a:t>
            </a:r>
            <a:endParaRPr lang="en-US" sz="1600" dirty="0"/>
          </a:p>
        </p:txBody>
      </p:sp>
      <p:sp>
        <p:nvSpPr>
          <p:cNvPr id="20" name="Shape 17"/>
          <p:cNvSpPr/>
          <p:nvPr/>
        </p:nvSpPr>
        <p:spPr>
          <a:xfrm>
            <a:off x="1920240" y="2286000"/>
            <a:ext cx="914" cy="548640"/>
          </a:xfrm>
          <a:prstGeom prst="line">
            <a:avLst/>
          </a:prstGeom>
          <a:noFill/>
          <a:ln w="25400">
            <a:solidFill>
              <a:srgbClr val="5B7A99"/>
            </a:solidFill>
            <a:prstDash val="solid"/>
            <a:tailEnd type="triangle"/>
          </a:ln>
        </p:spPr>
      </p:sp>
      <p:sp>
        <p:nvSpPr>
          <p:cNvPr id="21" name="Shape 18"/>
          <p:cNvSpPr/>
          <p:nvPr/>
        </p:nvSpPr>
        <p:spPr>
          <a:xfrm>
            <a:off x="1920240" y="3657600"/>
            <a:ext cx="914" cy="502920"/>
          </a:xfrm>
          <a:prstGeom prst="line">
            <a:avLst/>
          </a:prstGeom>
          <a:noFill/>
          <a:ln w="25400">
            <a:solidFill>
              <a:srgbClr val="5B7A99"/>
            </a:solidFill>
            <a:prstDash val="solid"/>
            <a:tailEnd type="triangle"/>
          </a:ln>
        </p:spPr>
      </p:sp>
      <p:sp>
        <p:nvSpPr>
          <p:cNvPr id="22" name="Shape 19"/>
          <p:cNvSpPr/>
          <p:nvPr/>
        </p:nvSpPr>
        <p:spPr>
          <a:xfrm>
            <a:off x="5212080" y="2286000"/>
            <a:ext cx="914" cy="548640"/>
          </a:xfrm>
          <a:prstGeom prst="line">
            <a:avLst/>
          </a:prstGeom>
          <a:noFill/>
          <a:ln w="25400">
            <a:solidFill>
              <a:srgbClr val="5B7A99"/>
            </a:solidFill>
            <a:prstDash val="solid"/>
            <a:headEnd type="triangle"/>
            <a:tailEnd type="triangle"/>
          </a:ln>
        </p:spPr>
      </p:sp>
      <p:sp>
        <p:nvSpPr>
          <p:cNvPr id="23" name="Shape 20"/>
          <p:cNvSpPr/>
          <p:nvPr/>
        </p:nvSpPr>
        <p:spPr>
          <a:xfrm>
            <a:off x="5212080" y="3657600"/>
            <a:ext cx="914" cy="502920"/>
          </a:xfrm>
          <a:prstGeom prst="line">
            <a:avLst/>
          </a:prstGeom>
          <a:noFill/>
          <a:ln w="25400">
            <a:solidFill>
              <a:srgbClr val="5B7A99"/>
            </a:solidFill>
            <a:prstDash val="solid"/>
            <a:headEnd type="triangle"/>
            <a:tailEnd type="triangle"/>
          </a:ln>
        </p:spPr>
      </p:sp>
      <p:sp>
        <p:nvSpPr>
          <p:cNvPr id="24" name="Shape 21"/>
          <p:cNvSpPr/>
          <p:nvPr/>
        </p:nvSpPr>
        <p:spPr>
          <a:xfrm>
            <a:off x="8503920" y="2286000"/>
            <a:ext cx="914" cy="548640"/>
          </a:xfrm>
          <a:prstGeom prst="line">
            <a:avLst/>
          </a:prstGeom>
          <a:noFill/>
          <a:ln w="25400">
            <a:solidFill>
              <a:srgbClr val="5B7A99"/>
            </a:solidFill>
            <a:prstDash val="solid"/>
            <a:headEnd type="triangle"/>
            <a:tailEnd type="triangle"/>
          </a:ln>
        </p:spPr>
      </p:sp>
      <p:sp>
        <p:nvSpPr>
          <p:cNvPr id="25" name="Shape 22"/>
          <p:cNvSpPr/>
          <p:nvPr/>
        </p:nvSpPr>
        <p:spPr>
          <a:xfrm>
            <a:off x="8503920" y="3657600"/>
            <a:ext cx="914" cy="502920"/>
          </a:xfrm>
          <a:prstGeom prst="line">
            <a:avLst/>
          </a:prstGeom>
          <a:noFill/>
          <a:ln w="25400">
            <a:solidFill>
              <a:srgbClr val="5B7A99"/>
            </a:solidFill>
            <a:prstDash val="solid"/>
            <a:headEnd type="triangle"/>
            <a:tailEnd type="triangle"/>
          </a:ln>
        </p:spPr>
      </p:sp>
      <p:sp>
        <p:nvSpPr>
          <p:cNvPr id="26" name="Shape 23"/>
          <p:cNvSpPr/>
          <p:nvPr/>
        </p:nvSpPr>
        <p:spPr>
          <a:xfrm>
            <a:off x="4480560" y="4617720"/>
            <a:ext cx="914" cy="457200"/>
          </a:xfrm>
          <a:prstGeom prst="line">
            <a:avLst/>
          </a:prstGeom>
          <a:noFill/>
          <a:ln w="25400">
            <a:solidFill>
              <a:srgbClr val="5B7A99"/>
            </a:solidFill>
            <a:prstDash val="solid"/>
            <a:tailEnd type="triangle"/>
          </a:ln>
        </p:spPr>
      </p:sp>
      <p:sp>
        <p:nvSpPr>
          <p:cNvPr id="27" name="card EMS rule"/>
          <p:cNvSpPr/>
          <p:nvPr/>
        </p:nvSpPr>
        <p:spPr>
          <a:xfrm>
            <a:off x="10012680" y="1371600"/>
            <a:ext cx="1691640" cy="4526280"/>
          </a:xfrm>
          <a:prstGeom prst="roundRect">
            <a:avLst>
              <a:gd name="adj" fmla="val 4324"/>
            </a:avLst>
          </a:prstGeom>
          <a:solidFill>
            <a:srgbClr val="FBEBD3"/>
          </a:solidFill>
          <a:ln w="12700">
            <a:solidFill>
              <a:srgbClr val="FBEBD3"/>
            </a:solidFill>
            <a:prstDash val="solid"/>
          </a:ln>
        </p:spPr>
      </p:sp>
      <p:sp>
        <p:nvSpPr>
          <p:cNvPr id="28" name="cardtext EMS rule"/>
          <p:cNvSpPr txBox="1"/>
          <p:nvPr/>
        </p:nvSpPr>
        <p:spPr>
          <a:xfrm>
            <a:off x="10177272" y="1499616"/>
            <a:ext cx="1362456" cy="4270248"/>
          </a:xfrm>
          <a:prstGeom prst="rect">
            <a:avLst/>
          </a:prstGeom>
          <a:noFill/>
          <a:ln/>
        </p:spPr>
        <p:txBody>
          <a:bodyPr wrap="square" lIns="0" tIns="0" rIns="0" bIns="0" rtlCol="0" anchor="t"/>
          <a:lstStyle/>
          <a:p>
            <a:pPr indent="0" marL="0">
              <a:spcAft>
                <a:spcPts val="600"/>
              </a:spcAft>
              <a:buNone/>
            </a:pPr>
            <a:r>
              <a:rPr lang="en-US" sz="1500" b="1" dirty="0">
                <a:solidFill>
                  <a:srgbClr val="18232F"/>
                </a:solidFill>
              </a:rPr>
              <a:t>EMS rule</a:t>
            </a:r>
            <a:endParaRPr lang="en-US" sz="1500" dirty="0"/>
          </a:p>
          <a:p>
            <a:pPr indent="0" marL="0">
              <a:buNone/>
            </a:pPr>
            <a:r>
              <a:rPr lang="en-US" sz="1300" dirty="0">
                <a:solidFill>
                  <a:srgbClr val="2B3A47"/>
                </a:solidFill>
              </a:rPr>
              <a:t>Sun: EV first → battery → export.</a:t>
            </a:r>
            <a:endParaRPr lang="en-US" sz="1500" dirty="0"/>
          </a:p>
          <a:p>
            <a:pPr indent="0" marL="0">
              <a:buNone/>
            </a:pPr>
            <a:endParaRPr lang="en-US" sz="1500" dirty="0"/>
          </a:p>
          <a:p>
            <a:pPr indent="0" marL="0">
              <a:buNone/>
            </a:pPr>
            <a:r>
              <a:rPr lang="en-US" sz="1300" dirty="0">
                <a:solidFill>
                  <a:srgbClr val="2B3A47"/>
                </a:solidFill>
              </a:rPr>
              <a:t>Shortfall: battery → grid.</a:t>
            </a:r>
            <a:endParaRPr lang="en-US" sz="1500" dirty="0"/>
          </a:p>
          <a:p>
            <a:pPr indent="0" marL="0">
              <a:buNone/>
            </a:pPr>
            <a:endParaRPr lang="en-US" sz="1500" dirty="0"/>
          </a:p>
          <a:p>
            <a:pPr indent="0" marL="0">
              <a:buNone/>
            </a:pPr>
            <a:r>
              <a:rPr lang="en-US" sz="1300" dirty="0">
                <a:solidFill>
                  <a:srgbClr val="2B3A47"/>
                </a:solidFill>
              </a:rPr>
              <a:t>Battery charges from PV only.</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Fixed design, built from datasheets</a:t>
            </a:r>
            <a:endParaRPr lang="en-US" sz="30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645920"/>
                <a:gridCol w="5852160"/>
                <a:gridCol w="3566160"/>
              </a:tblGrid>
              <a:tr h="475488">
                <a:tc>
                  <a:txBody>
                    <a:bodyPr/>
                    <a:lstStyle/>
                    <a:p>
                      <a:pPr indent="0" marL="0">
                        <a:buNone/>
                      </a:pPr>
                      <a:r>
                        <a:rPr lang="en-US" sz="1300" b="1" dirty="0">
                          <a:solidFill>
                            <a:srgbClr val="FFFFFF"/>
                          </a:solidFill>
                        </a:rPr>
                        <a:t>Item</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Value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Source / basis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475488">
                <a:tc>
                  <a:txBody>
                    <a:bodyPr/>
                    <a:lstStyle/>
                    <a:p>
                      <a:pPr indent="0" marL="0">
                        <a:buNone/>
                      </a:pPr>
                      <a:r>
                        <a:rPr lang="en-US" sz="1300" b="1" dirty="0">
                          <a:solidFill>
                            <a:srgbClr val="22303C"/>
                          </a:solidFill>
                        </a:rPr>
                        <a:t>PV module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Trina NE19R 620 W TOPCon · 2.701 m² · η_ref 22.95 % · β −0.29 %/K · NOCT 43 °C</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Datasheet DT-M-0093-B</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22303C"/>
                          </a:solidFill>
                        </a:rPr>
                        <a:t>PV array</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80 modules = 49.6 kWp · 216 m² · 20° tilt · due south</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81,030 kWh/yr ÷ 1,630 kWh/kWp ≈ 49.7 kWp</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75488">
                <a:tc>
                  <a:txBody>
                    <a:bodyPr/>
                    <a:lstStyle/>
                    <a:p>
                      <a:pPr indent="0" marL="0">
                        <a:buNone/>
                      </a:pPr>
                      <a:r>
                        <a:rPr lang="en-US" sz="1300" b="1" dirty="0">
                          <a:solidFill>
                            <a:srgbClr val="22303C"/>
                          </a:solidFill>
                        </a:rPr>
                        <a:t>Battery</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104 × REPT 280 Ah LFP in series (1P104S) · 93.2 kWh · 333 V · 31.2 mΩ</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REPT brochure; 2 × Y52 modules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22303C"/>
                          </a:solidFill>
                        </a:rPr>
                        <a:t>Battery limits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SOC 10–90 % (74.6 kWh usable) · 0.5C = 46.6 kW · 8,000 cycles to 70 %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Brochure; SOC window assumed</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75488">
                <a:tc>
                  <a:txBody>
                    <a:bodyPr/>
                    <a:lstStyle/>
                    <a:p>
                      <a:pPr indent="0" marL="0">
                        <a:buNone/>
                      </a:pPr>
                      <a:r>
                        <a:rPr lang="en-US" sz="1300" b="1" dirty="0">
                          <a:solidFill>
                            <a:srgbClr val="22303C"/>
                          </a:solidFill>
                        </a:rPr>
                        <a:t>Converters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PV inverter 0.97 · battery PCS 0.97 per direction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Brief: 96–98 %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22303C"/>
                          </a:solidFill>
                        </a:rPr>
                        <a:t>DC wiring</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2 % lumped ohmic + mismatch</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PVsyst ≈ 0.8 %/yr + PVWatts mismatch 2 %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75488">
                <a:tc>
                  <a:txBody>
                    <a:bodyPr/>
                    <a:lstStyle/>
                    <a:p>
                      <a:pPr indent="0" marL="0">
                        <a:buNone/>
                      </a:pPr>
                      <a:r>
                        <a:rPr lang="en-US" sz="1300" b="1" dirty="0">
                          <a:solidFill>
                            <a:srgbClr val="22303C"/>
                          </a:solidFill>
                        </a:rPr>
                        <a:t>EV load</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222 kWh/day at the AC bus · hourly shape from measured sessions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Design value; timing measured</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22303C"/>
                          </a:solidFill>
                        </a:rPr>
                        <a:t>EMS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PV → EV → battery → export; deficit ← battery ← grid</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Priority rule, not optimised</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bl>
          </a:graphicData>
        </a:graphic>
      </p:graphicFrame>
      <p:sp>
        <p:nvSpPr>
          <p:cNvPr id="5" name="takeaway bg"/>
          <p:cNvSpPr/>
          <p:nvPr/>
        </p:nvSpPr>
        <p:spPr>
          <a:xfrm>
            <a:off x="548640" y="5715000"/>
            <a:ext cx="11064240" cy="502920"/>
          </a:xfrm>
          <a:prstGeom prst="roundRect">
            <a:avLst>
              <a:gd name="adj" fmla="val 10909"/>
            </a:avLst>
          </a:prstGeom>
          <a:solidFill>
            <a:srgbClr val="FBEBD3"/>
          </a:solidFill>
          <a:ln w="12700">
            <a:solidFill>
              <a:srgbClr val="FBEBD3"/>
            </a:solidFill>
            <a:prstDash val="solid"/>
          </a:ln>
        </p:spPr>
      </p:sp>
      <p:sp>
        <p:nvSpPr>
          <p:cNvPr id="6" name="takeaway"/>
          <p:cNvSpPr txBox="1"/>
          <p:nvPr/>
        </p:nvSpPr>
        <p:spPr>
          <a:xfrm>
            <a:off x="731520" y="5715000"/>
            <a:ext cx="10698480" cy="502920"/>
          </a:xfrm>
          <a:prstGeom prst="rect">
            <a:avLst/>
          </a:prstGeom>
          <a:noFill/>
          <a:ln/>
        </p:spPr>
        <p:txBody>
          <a:bodyPr wrap="square" lIns="0" tIns="0" rIns="0" bIns="0" rtlCol="0" anchor="ctr"/>
          <a:lstStyle/>
          <a:p>
            <a:pPr indent="0" marL="0">
              <a:buNone/>
            </a:pPr>
            <a:r>
              <a:rPr lang="en-US" sz="1500" b="1" dirty="0">
                <a:solidFill>
                  <a:srgbClr val="7A4A0E"/>
                </a:solidFill>
              </a:rPr>
              <a:t>20° tilt costs only 0.40–0.86 % of plane irradiance against each city's optimum (14° / 28°)</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Weather: NASA POWER satellite data, ERA5 as cross-check</a:t>
            </a:r>
            <a:endParaRPr lang="en-US" sz="30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5669280" cy="914400"/>
        </p:xfrm>
        <a:graphic>
          <a:graphicData uri="http://schemas.openxmlformats.org/drawingml/2006/table">
            <a:tbl>
              <a:tblPr/>
              <a:tblGrid>
                <a:gridCol w="2651760"/>
                <a:gridCol w="1005840"/>
                <a:gridCol w="1005840"/>
                <a:gridCol w="1005840"/>
              </a:tblGrid>
              <a:tr h="384048">
                <a:tc>
                  <a:txBody>
                    <a:bodyPr/>
                    <a:lstStyle/>
                    <a:p>
                      <a:pPr indent="0" marL="0">
                        <a:buNone/>
                      </a:pPr>
                      <a:r>
                        <a:rPr lang="en-US" sz="1300" b="1" dirty="0">
                          <a:solidFill>
                            <a:srgbClr val="FFFFFF"/>
                          </a:solidFill>
                        </a:rPr>
                        <a:t>POA irradiation [kWh/m²/yr]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Jodhpur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Bengaluru</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Guwahati</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384048">
                <a:tc>
                  <a:txBody>
                    <a:bodyPr/>
                    <a:lstStyle/>
                    <a:p>
                      <a:pPr indent="0" marL="0">
                        <a:buNone/>
                      </a:pPr>
                      <a:r>
                        <a:rPr lang="en-US" sz="1300" dirty="0">
                          <a:solidFill>
                            <a:srgbClr val="22303C"/>
                          </a:solidFill>
                        </a:rPr>
                        <a:t>NASA POWER 2021</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2,086</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1,703</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1,669</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303C"/>
                          </a:solidFill>
                        </a:rPr>
                        <a:t>NASA POWER 2022</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2,110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1,704</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1,605</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84048">
                <a:tc>
                  <a:txBody>
                    <a:bodyPr/>
                    <a:lstStyle/>
                    <a:p>
                      <a:pPr indent="0" marL="0">
                        <a:buNone/>
                      </a:pPr>
                      <a:r>
                        <a:rPr lang="en-US" sz="1300" dirty="0">
                          <a:solidFill>
                            <a:srgbClr val="22303C"/>
                          </a:solidFill>
                        </a:rPr>
                        <a:t>NASA POWER 2023</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2,030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1,826</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1,714</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22303C"/>
                          </a:solidFill>
                        </a:rPr>
                        <a:t>NASA POWER mean (main case)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b="1" dirty="0">
                          <a:solidFill>
                            <a:srgbClr val="22303C"/>
                          </a:solidFill>
                        </a:rPr>
                        <a:t>2,076</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b="1" dirty="0">
                          <a:solidFill>
                            <a:srgbClr val="22303C"/>
                          </a:solidFill>
                        </a:rPr>
                        <a:t>1,745</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b="1" dirty="0">
                          <a:solidFill>
                            <a:srgbClr val="22303C"/>
                          </a:solidFill>
                        </a:rPr>
                        <a:t>1,662</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84048">
                <a:tc>
                  <a:txBody>
                    <a:bodyPr/>
                    <a:lstStyle/>
                    <a:p>
                      <a:pPr indent="0" marL="0">
                        <a:buNone/>
                      </a:pPr>
                      <a:r>
                        <a:rPr lang="en-US" sz="1300" dirty="0">
                          <a:solidFill>
                            <a:srgbClr val="22303C"/>
                          </a:solidFill>
                        </a:rPr>
                        <a:t>PVGIS-ERA5 2023 (cross-check)</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1,598</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1,774</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1,300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303C"/>
                          </a:solidFill>
                        </a:rPr>
                        <a:t>Diffuse + ground share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37 %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52 %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48 %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bl>
          </a:graphicData>
        </a:graphic>
      </p:graphicFrame>
      <p:pic>
        <p:nvPicPr>
          <p:cNvPr id="5" name="fig fig01_climate.png" descr="Monthly irradiation and temperature">    </p:cNvPr>
          <p:cNvPicPr>
            <a:picLocks noChangeAspect="1"/>
          </p:cNvPicPr>
          <p:nvPr/>
        </p:nvPicPr>
        <p:blipFill>
          <a:blip r:embed="rId1"/>
          <a:stretch>
            <a:fillRect/>
          </a:stretch>
        </p:blipFill>
        <p:spPr>
          <a:xfrm>
            <a:off x="6492240" y="1371600"/>
            <a:ext cx="5120640" cy="1943725"/>
          </a:xfrm>
          <a:prstGeom prst="rect">
            <a:avLst/>
          </a:prstGeom>
        </p:spPr>
      </p:pic>
      <p:sp>
        <p:nvSpPr>
          <p:cNvPr id="6" name="caption"/>
          <p:cNvSpPr txBox="1"/>
          <p:nvPr/>
        </p:nvSpPr>
        <p:spPr>
          <a:xfrm>
            <a:off x="6492240" y="4526280"/>
            <a:ext cx="5120640" cy="320040"/>
          </a:xfrm>
          <a:prstGeom prst="rect">
            <a:avLst/>
          </a:prstGeom>
          <a:noFill/>
          <a:ln/>
        </p:spPr>
        <p:txBody>
          <a:bodyPr wrap="square" lIns="0" tIns="0" rIns="0" bIns="0" rtlCol="0" anchor="ctr"/>
          <a:lstStyle/>
          <a:p>
            <a:pPr indent="0" marL="0">
              <a:buNone/>
            </a:pPr>
            <a:r>
              <a:rPr lang="en-US" sz="1100" i="1" dirty="0">
                <a:solidFill>
                  <a:srgbClr val="6B7A88"/>
                </a:solidFill>
              </a:rPr>
              <a:t>Monthly irradiation and ambient temperature, NASA POWER 2021–2023 mean</a:t>
            </a:r>
            <a:endParaRPr lang="en-US" sz="1100" dirty="0"/>
          </a:p>
        </p:txBody>
      </p:sp>
      <p:sp>
        <p:nvSpPr>
          <p:cNvPr id="7" name="body"/>
          <p:cNvSpPr txBox="1"/>
          <p:nvPr/>
        </p:nvSpPr>
        <p:spPr>
          <a:xfrm>
            <a:off x="548640" y="4343400"/>
            <a:ext cx="5669280" cy="12801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2B3A47"/>
                </a:solidFill>
              </a:rPr>
              <a:t>Horizontal GHI/DNI/DHI → tilted plane with Hay–Davies (circumsolar + isotropic sky) and albedo 0.2</a:t>
            </a:r>
            <a:endParaRPr lang="en-US" sz="1400" dirty="0"/>
          </a:p>
          <a:p>
            <a:pPr marL="203200" indent="-203200">
              <a:spcAft>
                <a:spcPts val="800"/>
              </a:spcAft>
              <a:buSzPct val="100000"/>
              <a:buChar char="•"/>
            </a:pPr>
            <a:r>
              <a:rPr lang="en-US" sz="1400" dirty="0">
                <a:solidFill>
                  <a:srgbClr val="2B3A47"/>
                </a:solidFill>
              </a:rPr>
              <a:t>Hour stamps checked: daily irradiance centre sits 0.42–0.51 h before solar noon (hour means)</a:t>
            </a:r>
            <a:endParaRPr lang="en-US" sz="1400" dirty="0"/>
          </a:p>
        </p:txBody>
      </p:sp>
      <p:sp>
        <p:nvSpPr>
          <p:cNvPr id="8" name="takeaway bg"/>
          <p:cNvSpPr/>
          <p:nvPr/>
        </p:nvSpPr>
        <p:spPr>
          <a:xfrm>
            <a:off x="548640" y="5760720"/>
            <a:ext cx="11064240" cy="502920"/>
          </a:xfrm>
          <a:prstGeom prst="roundRect">
            <a:avLst>
              <a:gd name="adj" fmla="val 10909"/>
            </a:avLst>
          </a:prstGeom>
          <a:solidFill>
            <a:srgbClr val="FBEBD3"/>
          </a:solidFill>
          <a:ln w="12700">
            <a:solidFill>
              <a:srgbClr val="FBEBD3"/>
            </a:solidFill>
            <a:prstDash val="solid"/>
          </a:ln>
        </p:spPr>
      </p:sp>
      <p:sp>
        <p:nvSpPr>
          <p:cNvPr id="9" name="takeaway"/>
          <p:cNvSpPr txBox="1"/>
          <p:nvPr/>
        </p:nvSpPr>
        <p:spPr>
          <a:xfrm>
            <a:off x="731520" y="5760720"/>
            <a:ext cx="10698480" cy="502920"/>
          </a:xfrm>
          <a:prstGeom prst="rect">
            <a:avLst/>
          </a:prstGeom>
          <a:noFill/>
          <a:ln/>
        </p:spPr>
        <p:txBody>
          <a:bodyPr wrap="square" lIns="0" tIns="0" rIns="0" bIns="0" rtlCol="0" anchor="ctr"/>
          <a:lstStyle/>
          <a:p>
            <a:pPr indent="0" marL="0">
              <a:buNone/>
            </a:pPr>
            <a:r>
              <a:rPr lang="en-US" sz="1500" b="1" dirty="0">
                <a:solidFill>
                  <a:srgbClr val="7A4A0E"/>
                </a:solidFill>
              </a:rPr>
              <a:t>POWER is the main case: satellite-based, ≈ 0 bias vs BSRN ground stations, matches long-term maps</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EV load: measured timing, fixed daily energy</a:t>
            </a:r>
            <a:endParaRPr lang="en-US" sz="3000" dirty="0"/>
          </a:p>
        </p:txBody>
      </p:sp>
      <p:pic>
        <p:nvPicPr>
          <p:cNvPr id="4" name="fig fig13_ev_profile.png" descr="EV profiles">    </p:cNvPr>
          <p:cNvPicPr>
            <a:picLocks noChangeAspect="1"/>
          </p:cNvPicPr>
          <p:nvPr/>
        </p:nvPicPr>
        <p:blipFill>
          <a:blip r:embed="rId1"/>
          <a:stretch>
            <a:fillRect/>
          </a:stretch>
        </p:blipFill>
        <p:spPr>
          <a:xfrm>
            <a:off x="548640" y="1325880"/>
            <a:ext cx="6949440" cy="2637913"/>
          </a:xfrm>
          <a:prstGeom prst="rect">
            <a:avLst/>
          </a:prstGeom>
        </p:spPr>
      </p:pic>
      <p:sp>
        <p:nvSpPr>
          <p:cNvPr id="5" name="card Source"/>
          <p:cNvSpPr/>
          <p:nvPr/>
        </p:nvSpPr>
        <p:spPr>
          <a:xfrm>
            <a:off x="7772400" y="1371600"/>
            <a:ext cx="3840480" cy="1325880"/>
          </a:xfrm>
          <a:prstGeom prst="roundRect">
            <a:avLst>
              <a:gd name="adj" fmla="val 5517"/>
            </a:avLst>
          </a:prstGeom>
          <a:solidFill>
            <a:srgbClr val="EEF3F5"/>
          </a:solidFill>
          <a:ln w="12700">
            <a:solidFill>
              <a:srgbClr val="EEF3F5"/>
            </a:solidFill>
            <a:prstDash val="solid"/>
          </a:ln>
        </p:spPr>
      </p:sp>
      <p:sp>
        <p:nvSpPr>
          <p:cNvPr id="6" name="cardtext Source"/>
          <p:cNvSpPr txBox="1"/>
          <p:nvPr/>
        </p:nvSpPr>
        <p:spPr>
          <a:xfrm>
            <a:off x="7936992" y="1499616"/>
            <a:ext cx="3511296" cy="106984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Source</a:t>
            </a:r>
            <a:endParaRPr lang="en-US" sz="1600" dirty="0"/>
          </a:p>
          <a:p>
            <a:pPr indent="0" marL="0">
              <a:buNone/>
            </a:pPr>
            <a:r>
              <a:rPr lang="en-US" sz="1300" dirty="0">
                <a:solidFill>
                  <a:srgbClr val="2B3A47"/>
                </a:solidFill>
              </a:rPr>
              <a:t>72,856 sessions, 2,119 chargers, South Korea 2022 (Scientific Data 2024, CC BY 4.0). Public groups: 24,285 sessions.</a:t>
            </a:r>
            <a:endParaRPr lang="en-US" sz="1600" dirty="0"/>
          </a:p>
        </p:txBody>
      </p:sp>
      <p:sp>
        <p:nvSpPr>
          <p:cNvPr id="7" name="card Shape"/>
          <p:cNvSpPr/>
          <p:nvPr/>
        </p:nvSpPr>
        <p:spPr>
          <a:xfrm>
            <a:off x="7772400" y="2834640"/>
            <a:ext cx="3840480" cy="1325880"/>
          </a:xfrm>
          <a:prstGeom prst="roundRect">
            <a:avLst>
              <a:gd name="adj" fmla="val 5517"/>
            </a:avLst>
          </a:prstGeom>
          <a:solidFill>
            <a:srgbClr val="EEF3F5"/>
          </a:solidFill>
          <a:ln w="12700">
            <a:solidFill>
              <a:srgbClr val="EEF3F5"/>
            </a:solidFill>
            <a:prstDash val="solid"/>
          </a:ln>
        </p:spPr>
      </p:sp>
      <p:sp>
        <p:nvSpPr>
          <p:cNvPr id="8" name="cardtext Shape"/>
          <p:cNvSpPr txBox="1"/>
          <p:nvPr/>
        </p:nvSpPr>
        <p:spPr>
          <a:xfrm>
            <a:off x="7936992" y="2962656"/>
            <a:ext cx="3511296" cy="106984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Shape</a:t>
            </a:r>
            <a:endParaRPr lang="en-US" sz="1600" dirty="0"/>
          </a:p>
          <a:p>
            <a:pPr indent="0" marL="0">
              <a:buNone/>
            </a:pPr>
            <a:r>
              <a:rPr lang="en-US" sz="1300" dirty="0">
                <a:solidFill>
                  <a:srgbClr val="2B3A47"/>
                </a:solidFill>
              </a:rPr>
              <a:t>56 % of energy 06–18 h (synthetic: 81 %). Peak 12.8 kW at 19:00.</a:t>
            </a:r>
            <a:endParaRPr lang="en-US" sz="1600" dirty="0"/>
          </a:p>
        </p:txBody>
      </p:sp>
      <p:sp>
        <p:nvSpPr>
          <p:cNvPr id="9" name="card Effect"/>
          <p:cNvSpPr/>
          <p:nvPr/>
        </p:nvSpPr>
        <p:spPr>
          <a:xfrm>
            <a:off x="7772400" y="4297680"/>
            <a:ext cx="3840480" cy="1325880"/>
          </a:xfrm>
          <a:prstGeom prst="roundRect">
            <a:avLst>
              <a:gd name="adj" fmla="val 5517"/>
            </a:avLst>
          </a:prstGeom>
          <a:solidFill>
            <a:srgbClr val="FBEBD3"/>
          </a:solidFill>
          <a:ln w="12700">
            <a:solidFill>
              <a:srgbClr val="FBEBD3"/>
            </a:solidFill>
            <a:prstDash val="solid"/>
          </a:ln>
        </p:spPr>
      </p:sp>
      <p:sp>
        <p:nvSpPr>
          <p:cNvPr id="10" name="cardtext Effect"/>
          <p:cNvSpPr txBox="1"/>
          <p:nvPr/>
        </p:nvSpPr>
        <p:spPr>
          <a:xfrm>
            <a:off x="7936992" y="4425696"/>
            <a:ext cx="3511296" cy="106984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Effect</a:t>
            </a:r>
            <a:endParaRPr lang="en-US" sz="1600" dirty="0"/>
          </a:p>
          <a:p>
            <a:pPr indent="0" marL="0">
              <a:buNone/>
            </a:pPr>
            <a:r>
              <a:rPr lang="en-US" sz="1300" dirty="0">
                <a:solidFill>
                  <a:srgbClr val="2B3A47"/>
                </a:solidFill>
              </a:rPr>
              <a:t>Measured timing cuts coverage 7–10 points vs synthetic; residential timing would cut 15–18 more.</a:t>
            </a:r>
            <a:endParaRPr lang="en-US" sz="1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Model</a:t>
            </a:r>
            <a:endParaRPr lang="en-US" sz="4000" dirty="0"/>
          </a:p>
        </p:txBody>
      </p:sp>
      <p:sp>
        <p:nvSpPr>
          <p:cNvPr id="4" name="Text 0"/>
          <p:cNvSpPr/>
          <p:nvPr>
            <p:ph idx="101" type="body" hasCustomPrompt="1"/>
          </p:nvPr>
        </p:nvSpPr>
        <p:spPr>
          <a:xfrm>
            <a:off x="731520" y="3703320"/>
            <a:ext cx="10698480" cy="914400"/>
          </a:xfrm>
          <a:prstGeom prst="rect">
            <a:avLst/>
          </a:prstGeom>
          <a:noFill/>
          <a:ln/>
        </p:spPr>
        <p:txBody>
          <a:bodyPr wrap="square" lIns="0" tIns="0" rIns="0" bIns="0" rtlCol="0" anchor="t"/>
          <a:lstStyle/>
          <a:p>
            <a:pPr indent="0" marL="0">
              <a:buNone/>
            </a:pPr>
            <a:r>
              <a:rPr lang="en-US" sz="1800" dirty="0">
                <a:solidFill>
                  <a:srgbClr val="F4D58D"/>
                </a:solidFill>
              </a:rPr>
              <a:t>First Law and Second Law for every subsystem, every hour</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AB8C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Hourly pipeline with three control volumes</a:t>
            </a:r>
            <a:endParaRPr lang="en-US" sz="3000" dirty="0"/>
          </a:p>
        </p:txBody>
      </p:sp>
      <p:sp>
        <p:nvSpPr>
          <p:cNvPr id="4" name="step load_weather"/>
          <p:cNvSpPr/>
          <p:nvPr/>
        </p:nvSpPr>
        <p:spPr>
          <a:xfrm>
            <a:off x="548640" y="1463040"/>
            <a:ext cx="1691640" cy="1554480"/>
          </a:xfrm>
          <a:prstGeom prst="roundRect">
            <a:avLst>
              <a:gd name="adj" fmla="val 4706"/>
            </a:avLst>
          </a:prstGeom>
          <a:solidFill>
            <a:srgbClr val="22384B"/>
          </a:solidFill>
          <a:ln w="12700">
            <a:solidFill>
              <a:srgbClr val="FFFFFF"/>
            </a:solidFill>
            <a:prstDash val="solid"/>
          </a:ln>
        </p:spPr>
      </p:sp>
      <p:sp>
        <p:nvSpPr>
          <p:cNvPr id="5" name="Text 2"/>
          <p:cNvSpPr txBox="1"/>
          <p:nvPr/>
        </p:nvSpPr>
        <p:spPr>
          <a:xfrm>
            <a:off x="594360" y="1463040"/>
            <a:ext cx="1600200" cy="1554480"/>
          </a:xfrm>
          <a:prstGeom prst="rect">
            <a:avLst/>
          </a:prstGeom>
          <a:noFill/>
          <a:ln/>
        </p:spPr>
        <p:txBody>
          <a:bodyPr wrap="square" lIns="25400" tIns="25400" rIns="25400" bIns="25400" rtlCol="0" anchor="ctr"/>
          <a:lstStyle/>
          <a:p>
            <a:pPr algn="ctr" indent="0" marL="0">
              <a:spcAft>
                <a:spcPts val="600"/>
              </a:spcAft>
              <a:buNone/>
            </a:pPr>
            <a:r>
              <a:rPr lang="en-US" sz="1400" b="1" dirty="0">
                <a:solidFill>
                  <a:srgbClr val="FFFFFF"/>
                </a:solidFill>
                <a:latin typeface="Consolas" pitchFamily="34" charset="0"/>
                <a:ea typeface="Consolas" pitchFamily="34" charset="-122"/>
                <a:cs typeface="Consolas" pitchFamily="34" charset="-120"/>
              </a:rPr>
              <a:t>load_weather</a:t>
            </a:r>
            <a:endParaRPr lang="en-US" sz="1400" dirty="0"/>
          </a:p>
          <a:p>
            <a:pPr algn="ctr" indent="0" marL="0">
              <a:buNone/>
            </a:pPr>
            <a:r>
              <a:rPr lang="en-US" sz="1200" dirty="0">
                <a:solidFill>
                  <a:srgbClr val="FFFFFF"/>
                </a:solidFill>
              </a:rPr>
              <a:t>POA, T_a, wind</a:t>
            </a:r>
            <a:endParaRPr lang="en-US" sz="1400" dirty="0"/>
          </a:p>
          <a:p>
            <a:pPr algn="ctr" indent="0" marL="0">
              <a:buNone/>
            </a:pPr>
            <a:r>
              <a:rPr lang="en-US" sz="1200" dirty="0">
                <a:solidFill>
                  <a:srgbClr val="FFFFFF"/>
                </a:solidFill>
              </a:rPr>
              <a:t>26,280 h × 3 cities</a:t>
            </a:r>
            <a:endParaRPr lang="en-US" sz="1400" dirty="0"/>
          </a:p>
        </p:txBody>
      </p:sp>
      <p:sp>
        <p:nvSpPr>
          <p:cNvPr id="6" name="step pv_model"/>
          <p:cNvSpPr/>
          <p:nvPr/>
        </p:nvSpPr>
        <p:spPr>
          <a:xfrm>
            <a:off x="2423160" y="1463040"/>
            <a:ext cx="1691640" cy="1554480"/>
          </a:xfrm>
          <a:prstGeom prst="roundRect">
            <a:avLst>
              <a:gd name="adj" fmla="val 4706"/>
            </a:avLst>
          </a:prstGeom>
          <a:solidFill>
            <a:srgbClr val="E8962E"/>
          </a:solidFill>
          <a:ln w="12700">
            <a:solidFill>
              <a:srgbClr val="FFFFFF"/>
            </a:solidFill>
            <a:prstDash val="solid"/>
          </a:ln>
        </p:spPr>
      </p:sp>
      <p:sp>
        <p:nvSpPr>
          <p:cNvPr id="7" name="Text 4"/>
          <p:cNvSpPr txBox="1"/>
          <p:nvPr/>
        </p:nvSpPr>
        <p:spPr>
          <a:xfrm>
            <a:off x="2468880" y="1463040"/>
            <a:ext cx="1600200" cy="1554480"/>
          </a:xfrm>
          <a:prstGeom prst="rect">
            <a:avLst/>
          </a:prstGeom>
          <a:noFill/>
          <a:ln/>
        </p:spPr>
        <p:txBody>
          <a:bodyPr wrap="square" lIns="25400" tIns="25400" rIns="25400" bIns="25400" rtlCol="0" anchor="ctr"/>
          <a:lstStyle/>
          <a:p>
            <a:pPr algn="ctr" indent="0" marL="0">
              <a:spcAft>
                <a:spcPts val="600"/>
              </a:spcAft>
              <a:buNone/>
            </a:pPr>
            <a:r>
              <a:rPr lang="en-US" sz="1400" b="1" dirty="0">
                <a:solidFill>
                  <a:srgbClr val="FFFFFF"/>
                </a:solidFill>
                <a:latin typeface="Consolas" pitchFamily="34" charset="0"/>
                <a:ea typeface="Consolas" pitchFamily="34" charset="-122"/>
                <a:cs typeface="Consolas" pitchFamily="34" charset="-120"/>
              </a:rPr>
              <a:t>pv_model</a:t>
            </a:r>
            <a:endParaRPr lang="en-US" sz="1400" dirty="0"/>
          </a:p>
          <a:p>
            <a:pPr algn="ctr" indent="0" marL="0">
              <a:buNone/>
            </a:pPr>
            <a:r>
              <a:rPr lang="en-US" sz="1200" dirty="0">
                <a:solidFill>
                  <a:srgbClr val="FFFFFF"/>
                </a:solidFill>
              </a:rPr>
              <a:t>G_eff, T_c, η, P,</a:t>
            </a:r>
            <a:endParaRPr lang="en-US" sz="1400" dirty="0"/>
          </a:p>
          <a:p>
            <a:pPr algn="ctr" indent="0" marL="0">
              <a:buNone/>
            </a:pPr>
            <a:r>
              <a:rPr lang="en-US" sz="1200" dirty="0">
                <a:solidFill>
                  <a:srgbClr val="FFFFFF"/>
                </a:solidFill>
              </a:rPr>
              <a:t>Ex_in, Ex_dest</a:t>
            </a:r>
            <a:endParaRPr lang="en-US" sz="1400" dirty="0"/>
          </a:p>
        </p:txBody>
      </p:sp>
      <p:sp>
        <p:nvSpPr>
          <p:cNvPr id="8" name="step ems_dispatch"/>
          <p:cNvSpPr/>
          <p:nvPr/>
        </p:nvSpPr>
        <p:spPr>
          <a:xfrm>
            <a:off x="4297680" y="1463040"/>
            <a:ext cx="1691640" cy="1554480"/>
          </a:xfrm>
          <a:prstGeom prst="roundRect">
            <a:avLst>
              <a:gd name="adj" fmla="val 4706"/>
            </a:avLst>
          </a:prstGeom>
          <a:solidFill>
            <a:srgbClr val="22384B"/>
          </a:solidFill>
          <a:ln w="12700">
            <a:solidFill>
              <a:srgbClr val="FFFFFF"/>
            </a:solidFill>
            <a:prstDash val="solid"/>
          </a:ln>
        </p:spPr>
      </p:sp>
      <p:sp>
        <p:nvSpPr>
          <p:cNvPr id="9" name="Text 6"/>
          <p:cNvSpPr txBox="1"/>
          <p:nvPr/>
        </p:nvSpPr>
        <p:spPr>
          <a:xfrm>
            <a:off x="4343400" y="1463040"/>
            <a:ext cx="1600200" cy="1554480"/>
          </a:xfrm>
          <a:prstGeom prst="rect">
            <a:avLst/>
          </a:prstGeom>
          <a:noFill/>
          <a:ln/>
        </p:spPr>
        <p:txBody>
          <a:bodyPr wrap="square" lIns="25400" tIns="25400" rIns="25400" bIns="25400" rtlCol="0" anchor="ctr"/>
          <a:lstStyle/>
          <a:p>
            <a:pPr algn="ctr" indent="0" marL="0">
              <a:spcAft>
                <a:spcPts val="600"/>
              </a:spcAft>
              <a:buNone/>
            </a:pPr>
            <a:r>
              <a:rPr lang="en-US" sz="1400" b="1" dirty="0">
                <a:solidFill>
                  <a:srgbClr val="FFFFFF"/>
                </a:solidFill>
                <a:latin typeface="Consolas" pitchFamily="34" charset="0"/>
                <a:ea typeface="Consolas" pitchFamily="34" charset="-122"/>
                <a:cs typeface="Consolas" pitchFamily="34" charset="-120"/>
              </a:rPr>
              <a:t>ems_dispatch</a:t>
            </a:r>
            <a:endParaRPr lang="en-US" sz="1400" dirty="0"/>
          </a:p>
          <a:p>
            <a:pPr algn="ctr" indent="0" marL="0">
              <a:buNone/>
            </a:pPr>
            <a:r>
              <a:rPr lang="en-US" sz="1200" dirty="0">
                <a:solidFill>
                  <a:srgbClr val="FFFFFF"/>
                </a:solidFill>
              </a:rPr>
              <a:t>PV → EV → battery</a:t>
            </a:r>
            <a:endParaRPr lang="en-US" sz="1400" dirty="0"/>
          </a:p>
          <a:p>
            <a:pPr algn="ctr" indent="0" marL="0">
              <a:buNone/>
            </a:pPr>
            <a:r>
              <a:rPr lang="en-US" sz="1200" dirty="0">
                <a:solidFill>
                  <a:srgbClr val="FFFFFF"/>
                </a:solidFill>
              </a:rPr>
              <a:t>→ export / import</a:t>
            </a:r>
            <a:endParaRPr lang="en-US" sz="1400" dirty="0"/>
          </a:p>
        </p:txBody>
      </p:sp>
      <p:sp>
        <p:nvSpPr>
          <p:cNvPr id="10" name="step battery_model"/>
          <p:cNvSpPr/>
          <p:nvPr/>
        </p:nvSpPr>
        <p:spPr>
          <a:xfrm>
            <a:off x="6172200" y="1463040"/>
            <a:ext cx="1691640" cy="1554480"/>
          </a:xfrm>
          <a:prstGeom prst="roundRect">
            <a:avLst>
              <a:gd name="adj" fmla="val 4706"/>
            </a:avLst>
          </a:prstGeom>
          <a:solidFill>
            <a:srgbClr val="2A8C82"/>
          </a:solidFill>
          <a:ln w="12700">
            <a:solidFill>
              <a:srgbClr val="FFFFFF"/>
            </a:solidFill>
            <a:prstDash val="solid"/>
          </a:ln>
        </p:spPr>
      </p:sp>
      <p:sp>
        <p:nvSpPr>
          <p:cNvPr id="11" name="Text 8"/>
          <p:cNvSpPr txBox="1"/>
          <p:nvPr/>
        </p:nvSpPr>
        <p:spPr>
          <a:xfrm>
            <a:off x="6217920" y="1463040"/>
            <a:ext cx="1600200" cy="1554480"/>
          </a:xfrm>
          <a:prstGeom prst="rect">
            <a:avLst/>
          </a:prstGeom>
          <a:noFill/>
          <a:ln/>
        </p:spPr>
        <p:txBody>
          <a:bodyPr wrap="square" lIns="25400" tIns="25400" rIns="25400" bIns="25400" rtlCol="0" anchor="ctr"/>
          <a:lstStyle/>
          <a:p>
            <a:pPr algn="ctr" indent="0" marL="0">
              <a:spcAft>
                <a:spcPts val="600"/>
              </a:spcAft>
              <a:buNone/>
            </a:pPr>
            <a:r>
              <a:rPr lang="en-US" sz="1400" b="1" dirty="0">
                <a:solidFill>
                  <a:srgbClr val="FFFFFF"/>
                </a:solidFill>
                <a:latin typeface="Consolas" pitchFamily="34" charset="0"/>
                <a:ea typeface="Consolas" pitchFamily="34" charset="-122"/>
                <a:cs typeface="Consolas" pitchFamily="34" charset="-120"/>
              </a:rPr>
              <a:t>battery_model</a:t>
            </a:r>
            <a:endParaRPr lang="en-US" sz="1400" dirty="0"/>
          </a:p>
          <a:p>
            <a:pPr algn="ctr" indent="0" marL="0">
              <a:buNone/>
            </a:pPr>
            <a:r>
              <a:rPr lang="en-US" sz="1200" dirty="0">
                <a:solidFill>
                  <a:srgbClr val="FFFFFF"/>
                </a:solidFill>
              </a:rPr>
              <a:t>I²R, SOC, T_b,</a:t>
            </a:r>
            <a:endParaRPr lang="en-US" sz="1400" dirty="0"/>
          </a:p>
          <a:p>
            <a:pPr algn="ctr" indent="0" marL="0">
              <a:buNone/>
            </a:pPr>
            <a:r>
              <a:rPr lang="en-US" sz="1200" dirty="0">
                <a:solidFill>
                  <a:srgbClr val="FFFFFF"/>
                </a:solidFill>
              </a:rPr>
              <a:t>S_gen, ageing</a:t>
            </a:r>
            <a:endParaRPr lang="en-US" sz="1400" dirty="0"/>
          </a:p>
        </p:txBody>
      </p:sp>
      <p:sp>
        <p:nvSpPr>
          <p:cNvPr id="12" name="step postprocess"/>
          <p:cNvSpPr/>
          <p:nvPr/>
        </p:nvSpPr>
        <p:spPr>
          <a:xfrm>
            <a:off x="8046720" y="1463040"/>
            <a:ext cx="1691640" cy="1554480"/>
          </a:xfrm>
          <a:prstGeom prst="roundRect">
            <a:avLst>
              <a:gd name="adj" fmla="val 4706"/>
            </a:avLst>
          </a:prstGeom>
          <a:solidFill>
            <a:srgbClr val="22384B"/>
          </a:solidFill>
          <a:ln w="12700">
            <a:solidFill>
              <a:srgbClr val="FFFFFF"/>
            </a:solidFill>
            <a:prstDash val="solid"/>
          </a:ln>
        </p:spPr>
      </p:sp>
      <p:sp>
        <p:nvSpPr>
          <p:cNvPr id="13" name="Text 10"/>
          <p:cNvSpPr txBox="1"/>
          <p:nvPr/>
        </p:nvSpPr>
        <p:spPr>
          <a:xfrm>
            <a:off x="8092440" y="1463040"/>
            <a:ext cx="1600200" cy="1554480"/>
          </a:xfrm>
          <a:prstGeom prst="rect">
            <a:avLst/>
          </a:prstGeom>
          <a:noFill/>
          <a:ln/>
        </p:spPr>
        <p:txBody>
          <a:bodyPr wrap="square" lIns="25400" tIns="25400" rIns="25400" bIns="25400" rtlCol="0" anchor="ctr"/>
          <a:lstStyle/>
          <a:p>
            <a:pPr algn="ctr" indent="0" marL="0">
              <a:spcAft>
                <a:spcPts val="600"/>
              </a:spcAft>
              <a:buNone/>
            </a:pPr>
            <a:r>
              <a:rPr lang="en-US" sz="1400" b="1" dirty="0">
                <a:solidFill>
                  <a:srgbClr val="FFFFFF"/>
                </a:solidFill>
                <a:latin typeface="Consolas" pitchFamily="34" charset="0"/>
                <a:ea typeface="Consolas" pitchFamily="34" charset="-122"/>
                <a:cs typeface="Consolas" pitchFamily="34" charset="-120"/>
              </a:rPr>
              <a:t>postprocess</a:t>
            </a:r>
            <a:endParaRPr lang="en-US" sz="1400" dirty="0"/>
          </a:p>
          <a:p>
            <a:pPr algn="ctr" indent="0" marL="0">
              <a:buNone/>
            </a:pPr>
            <a:r>
              <a:rPr lang="en-US" sz="1200" dirty="0">
                <a:solidFill>
                  <a:srgbClr val="FFFFFF"/>
                </a:solidFill>
              </a:rPr>
              <a:t>sums of hourly</a:t>
            </a:r>
            <a:endParaRPr lang="en-US" sz="1400" dirty="0"/>
          </a:p>
          <a:p>
            <a:pPr algn="ctr" indent="0" marL="0">
              <a:buNone/>
            </a:pPr>
            <a:r>
              <a:rPr lang="en-US" sz="1200" dirty="0">
                <a:solidFill>
                  <a:srgbClr val="FFFFFF"/>
                </a:solidFill>
              </a:rPr>
              <a:t>outputs</a:t>
            </a:r>
            <a:endParaRPr lang="en-US" sz="1400" dirty="0"/>
          </a:p>
        </p:txBody>
      </p:sp>
      <p:sp>
        <p:nvSpPr>
          <p:cNvPr id="14" name="step economics"/>
          <p:cNvSpPr/>
          <p:nvPr/>
        </p:nvSpPr>
        <p:spPr>
          <a:xfrm>
            <a:off x="9921240" y="1463040"/>
            <a:ext cx="1691640" cy="1554480"/>
          </a:xfrm>
          <a:prstGeom prst="roundRect">
            <a:avLst>
              <a:gd name="adj" fmla="val 4706"/>
            </a:avLst>
          </a:prstGeom>
          <a:solidFill>
            <a:srgbClr val="22384B"/>
          </a:solidFill>
          <a:ln w="12700">
            <a:solidFill>
              <a:srgbClr val="FFFFFF"/>
            </a:solidFill>
            <a:prstDash val="solid"/>
          </a:ln>
        </p:spPr>
      </p:sp>
      <p:sp>
        <p:nvSpPr>
          <p:cNvPr id="15" name="Text 12"/>
          <p:cNvSpPr txBox="1"/>
          <p:nvPr/>
        </p:nvSpPr>
        <p:spPr>
          <a:xfrm>
            <a:off x="9966960" y="1463040"/>
            <a:ext cx="1600200" cy="1554480"/>
          </a:xfrm>
          <a:prstGeom prst="rect">
            <a:avLst/>
          </a:prstGeom>
          <a:noFill/>
          <a:ln/>
        </p:spPr>
        <p:txBody>
          <a:bodyPr wrap="square" lIns="25400" tIns="25400" rIns="25400" bIns="25400" rtlCol="0" anchor="ctr"/>
          <a:lstStyle/>
          <a:p>
            <a:pPr algn="ctr" indent="0" marL="0">
              <a:spcAft>
                <a:spcPts val="600"/>
              </a:spcAft>
              <a:buNone/>
            </a:pPr>
            <a:r>
              <a:rPr lang="en-US" sz="1400" b="1" dirty="0">
                <a:solidFill>
                  <a:srgbClr val="FFFFFF"/>
                </a:solidFill>
                <a:latin typeface="Consolas" pitchFamily="34" charset="0"/>
                <a:ea typeface="Consolas" pitchFamily="34" charset="-122"/>
                <a:cs typeface="Consolas" pitchFamily="34" charset="-120"/>
              </a:rPr>
              <a:t>economics</a:t>
            </a:r>
            <a:endParaRPr lang="en-US" sz="1400" dirty="0"/>
          </a:p>
          <a:p>
            <a:pPr algn="ctr" indent="0" marL="0">
              <a:buNone/>
            </a:pPr>
            <a:r>
              <a:rPr lang="en-US" sz="1200" dirty="0">
                <a:solidFill>
                  <a:srgbClr val="FFFFFF"/>
                </a:solidFill>
              </a:rPr>
              <a:t>LCOE, NPV, CO₂</a:t>
            </a:r>
            <a:endParaRPr lang="en-US" sz="1400" dirty="0"/>
          </a:p>
          <a:p>
            <a:pPr algn="ctr" indent="0" marL="0">
              <a:buNone/>
            </a:pPr>
            <a:r>
              <a:rPr lang="en-US" sz="1200" dirty="0">
                <a:solidFill>
                  <a:srgbClr val="FFFFFF"/>
                </a:solidFill>
              </a:rPr>
              <a:t>(reporting)</a:t>
            </a:r>
            <a:endParaRPr lang="en-US" sz="1400" dirty="0"/>
          </a:p>
        </p:txBody>
      </p:sp>
      <p:sp>
        <p:nvSpPr>
          <p:cNvPr id="16" name="card CV1 · PV laminate"/>
          <p:cNvSpPr/>
          <p:nvPr/>
        </p:nvSpPr>
        <p:spPr>
          <a:xfrm>
            <a:off x="548640" y="3429000"/>
            <a:ext cx="3566160" cy="2011680"/>
          </a:xfrm>
          <a:prstGeom prst="roundRect">
            <a:avLst>
              <a:gd name="adj" fmla="val 3636"/>
            </a:avLst>
          </a:prstGeom>
          <a:solidFill>
            <a:srgbClr val="FBEBD3"/>
          </a:solidFill>
          <a:ln w="12700">
            <a:solidFill>
              <a:srgbClr val="FBEBD3"/>
            </a:solidFill>
            <a:prstDash val="solid"/>
          </a:ln>
        </p:spPr>
      </p:sp>
      <p:sp>
        <p:nvSpPr>
          <p:cNvPr id="17" name="cardtext CV1 · PV laminate"/>
          <p:cNvSpPr txBox="1"/>
          <p:nvPr/>
        </p:nvSpPr>
        <p:spPr>
          <a:xfrm>
            <a:off x="713232" y="3557016"/>
            <a:ext cx="3236976" cy="175564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CV1 · PV laminate</a:t>
            </a:r>
            <a:endParaRPr lang="en-US" sz="1600" dirty="0"/>
          </a:p>
          <a:p>
            <a:pPr indent="0" marL="0">
              <a:buNone/>
            </a:pPr>
            <a:r>
              <a:rPr lang="en-US" sz="1400" dirty="0">
                <a:solidFill>
                  <a:srgbClr val="2B3A47"/>
                </a:solidFill>
              </a:rPr>
              <a:t>Radiation in, electricity out, heat to air and sky. Steady-state energy balance per hour; exergy split into optical, heat and internal.</a:t>
            </a:r>
            <a:endParaRPr lang="en-US" sz="1600" dirty="0"/>
          </a:p>
        </p:txBody>
      </p:sp>
      <p:sp>
        <p:nvSpPr>
          <p:cNvPr id="18" name="card CV2 · Battery pack"/>
          <p:cNvSpPr/>
          <p:nvPr/>
        </p:nvSpPr>
        <p:spPr>
          <a:xfrm>
            <a:off x="4297680" y="3429000"/>
            <a:ext cx="3566160" cy="2011680"/>
          </a:xfrm>
          <a:prstGeom prst="roundRect">
            <a:avLst>
              <a:gd name="adj" fmla="val 3636"/>
            </a:avLst>
          </a:prstGeom>
          <a:solidFill>
            <a:srgbClr val="DCEFEC"/>
          </a:solidFill>
          <a:ln w="12700">
            <a:solidFill>
              <a:srgbClr val="DCEFEC"/>
            </a:solidFill>
            <a:prstDash val="solid"/>
          </a:ln>
        </p:spPr>
      </p:sp>
      <p:sp>
        <p:nvSpPr>
          <p:cNvPr id="19" name="cardtext CV2 · Battery pack"/>
          <p:cNvSpPr txBox="1"/>
          <p:nvPr/>
        </p:nvSpPr>
        <p:spPr>
          <a:xfrm>
            <a:off x="4462272" y="3557016"/>
            <a:ext cx="3236976" cy="175564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CV2 · Battery pack</a:t>
            </a:r>
            <a:endParaRPr lang="en-US" sz="1600" dirty="0"/>
          </a:p>
          <a:p>
            <a:pPr indent="0" marL="0">
              <a:buNone/>
            </a:pPr>
            <a:r>
              <a:rPr lang="en-US" sz="1400" dirty="0">
                <a:solidFill>
                  <a:srgbClr val="2B3A47"/>
                </a:solidFill>
              </a:rPr>
              <a:t>Lumped I²R, coulomb counting, lumped thermal mass; Gouy–Stodola entropy generation; Arrhenius ageing.</a:t>
            </a:r>
            <a:endParaRPr lang="en-US" sz="1600" dirty="0"/>
          </a:p>
        </p:txBody>
      </p:sp>
      <p:sp>
        <p:nvSpPr>
          <p:cNvPr id="20" name="card CV3 · Electronics + wiring"/>
          <p:cNvSpPr/>
          <p:nvPr/>
        </p:nvSpPr>
        <p:spPr>
          <a:xfrm>
            <a:off x="8046720" y="3429000"/>
            <a:ext cx="3566160" cy="2011680"/>
          </a:xfrm>
          <a:prstGeom prst="roundRect">
            <a:avLst>
              <a:gd name="adj" fmla="val 3636"/>
            </a:avLst>
          </a:prstGeom>
          <a:solidFill>
            <a:srgbClr val="EEF3F5"/>
          </a:solidFill>
          <a:ln w="12700">
            <a:solidFill>
              <a:srgbClr val="EEF3F5"/>
            </a:solidFill>
            <a:prstDash val="solid"/>
          </a:ln>
        </p:spPr>
      </p:sp>
      <p:sp>
        <p:nvSpPr>
          <p:cNvPr id="21" name="cardtext CV3 · Electronics + wiring"/>
          <p:cNvSpPr txBox="1"/>
          <p:nvPr/>
        </p:nvSpPr>
        <p:spPr>
          <a:xfrm>
            <a:off x="8211312" y="3557016"/>
            <a:ext cx="3236976" cy="175564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CV3 · Electronics + wiring</a:t>
            </a:r>
            <a:endParaRPr lang="en-US" sz="1600" dirty="0"/>
          </a:p>
          <a:p>
            <a:pPr indent="0" marL="0">
              <a:buNone/>
            </a:pPr>
            <a:r>
              <a:rPr lang="en-US" sz="1400" dirty="0">
                <a:solidFill>
                  <a:srgbClr val="2B3A47"/>
                </a:solidFill>
              </a:rPr>
              <a:t>Fixed efficiencies 0.97 / 0.97 / 0.98. Electricity is pure exergy, so loss = exergy destroyed (ψ = η).</a:t>
            </a:r>
            <a:endParaRPr lang="en-US" sz="1600" dirty="0"/>
          </a:p>
        </p:txBody>
      </p:sp>
      <p:sp>
        <p:nvSpPr>
          <p:cNvPr id="22" name="takeaway bg"/>
          <p:cNvSpPr/>
          <p:nvPr/>
        </p:nvSpPr>
        <p:spPr>
          <a:xfrm>
            <a:off x="548640" y="5760720"/>
            <a:ext cx="11064240" cy="502920"/>
          </a:xfrm>
          <a:prstGeom prst="roundRect">
            <a:avLst>
              <a:gd name="adj" fmla="val 10909"/>
            </a:avLst>
          </a:prstGeom>
          <a:solidFill>
            <a:srgbClr val="FBEBD3"/>
          </a:solidFill>
          <a:ln w="12700">
            <a:solidFill>
              <a:srgbClr val="FBEBD3"/>
            </a:solidFill>
            <a:prstDash val="solid"/>
          </a:ln>
        </p:spPr>
      </p:sp>
      <p:sp>
        <p:nvSpPr>
          <p:cNvPr id="23" name="takeaway"/>
          <p:cNvSpPr txBox="1"/>
          <p:nvPr/>
        </p:nvSpPr>
        <p:spPr>
          <a:xfrm>
            <a:off x="731520" y="5760720"/>
            <a:ext cx="10698480" cy="502920"/>
          </a:xfrm>
          <a:prstGeom prst="rect">
            <a:avLst/>
          </a:prstGeom>
          <a:noFill/>
          <a:ln/>
        </p:spPr>
        <p:txBody>
          <a:bodyPr wrap="square" lIns="0" tIns="0" rIns="0" bIns="0" rtlCol="0" anchor="ctr"/>
          <a:lstStyle/>
          <a:p>
            <a:pPr indent="0" marL="0">
              <a:buNone/>
            </a:pPr>
            <a:r>
              <a:rPr lang="en-US" sz="1500" b="1" dirty="0">
                <a:solidFill>
                  <a:srgbClr val="7A4A0E"/>
                </a:solidFill>
              </a:rPr>
              <a:t>Hourly First-Law and exergy balances are asserted to close: max residual 5.7 × 10⁻¹⁴ kWh</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Cell temperature: an energy balance, calibrated to the datasheet</a:t>
            </a:r>
            <a:endParaRPr lang="en-US" sz="3000" dirty="0"/>
          </a:p>
        </p:txBody>
      </p:sp>
      <p:sp>
        <p:nvSpPr>
          <p:cNvPr id="4" name="eqbg"/>
          <p:cNvSpPr/>
          <p:nvPr/>
        </p:nvSpPr>
        <p:spPr>
          <a:xfrm>
            <a:off x="548640" y="1325880"/>
            <a:ext cx="11064240" cy="1051560"/>
          </a:xfrm>
          <a:prstGeom prst="roundRect">
            <a:avLst>
              <a:gd name="adj" fmla="val 5217"/>
            </a:avLst>
          </a:prstGeom>
          <a:solidFill>
            <a:srgbClr val="F3F5F7"/>
          </a:solidFill>
          <a:ln w="12700">
            <a:solidFill>
              <a:srgbClr val="DDE3E8"/>
            </a:solidFill>
            <a:prstDash val="solid"/>
          </a:ln>
        </p:spPr>
      </p:sp>
      <p:sp>
        <p:nvSpPr>
          <p:cNvPr id="5" name="equation"/>
          <p:cNvSpPr txBox="1"/>
          <p:nvPr/>
        </p:nvSpPr>
        <p:spPr>
          <a:xfrm>
            <a:off x="731520" y="1417320"/>
            <a:ext cx="10698480" cy="868680"/>
          </a:xfrm>
          <a:prstGeom prst="rect">
            <a:avLst/>
          </a:prstGeom>
          <a:noFill/>
          <a:ln/>
        </p:spPr>
        <p:txBody>
          <a:bodyPr wrap="square" lIns="0" tIns="0" rIns="0" bIns="0" rtlCol="0" anchor="ctr"/>
          <a:lstStyle/>
          <a:p>
            <a:pPr indent="0" marL="0">
              <a:spcAft>
                <a:spcPts val="400"/>
              </a:spcAft>
              <a:buNone/>
            </a:pPr>
            <a:r>
              <a:rPr lang="en-US" sz="1700" dirty="0">
                <a:solidFill>
                  <a:srgbClr val="18232F"/>
                </a:solidFill>
                <a:latin typeface="Cambria" pitchFamily="34" charset="0"/>
                <a:ea typeface="Cambria" pitchFamily="34" charset="-122"/>
                <a:cs typeface="Cambria" pitchFamily="34" charset="-120"/>
              </a:rPr>
              <a:t>αG_eff − η(T_c)G_eff = 2h(v)(T_c − T_a) + ε_f σ(T_c⁴ − T_sky⁴) + ε_b σ(T_c⁴ − T_a⁴)</a:t>
            </a:r>
            <a:endParaRPr lang="en-US" sz="1700" dirty="0"/>
          </a:p>
          <a:p>
            <a:pPr indent="0" marL="0">
              <a:spcAft>
                <a:spcPts val="400"/>
              </a:spcAft>
              <a:buNone/>
            </a:pPr>
            <a:r>
              <a:rPr lang="en-US" sz="1700" dirty="0">
                <a:solidFill>
                  <a:srgbClr val="18232F"/>
                </a:solidFill>
                <a:latin typeface="Cambria" pitchFamily="34" charset="0"/>
                <a:ea typeface="Cambria" pitchFamily="34" charset="-122"/>
                <a:cs typeface="Cambria" pitchFamily="34" charset="-120"/>
              </a:rPr>
              <a:t>h = h_free + 3.0 v,   v = v₁₀ (3/10)^(1/7),   T_sky = 0.0552 T_a^1.5</a:t>
            </a:r>
            <a:endParaRPr lang="en-US" sz="17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2606040"/>
          <a:ext cx="6035040" cy="914400"/>
        </p:xfrm>
        <a:graphic>
          <a:graphicData uri="http://schemas.openxmlformats.org/drawingml/2006/table">
            <a:tbl>
              <a:tblPr/>
              <a:tblGrid>
                <a:gridCol w="2377440"/>
                <a:gridCol w="1554480"/>
                <a:gridCol w="2103120"/>
              </a:tblGrid>
              <a:tr h="384048">
                <a:tc>
                  <a:txBody>
                    <a:bodyPr/>
                    <a:lstStyle/>
                    <a:p>
                      <a:pPr indent="0" marL="0">
                        <a:buNone/>
                      </a:pPr>
                      <a:r>
                        <a:rPr lang="en-US" sz="1300" b="1" dirty="0">
                          <a:solidFill>
                            <a:srgbClr val="FFFFFF"/>
                          </a:solidFill>
                        </a:rPr>
                        <a:t>Parameter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Value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Source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384048">
                <a:tc>
                  <a:txBody>
                    <a:bodyPr/>
                    <a:lstStyle/>
                    <a:p>
                      <a:pPr indent="0" marL="0">
                        <a:buNone/>
                      </a:pPr>
                      <a:r>
                        <a:rPr lang="en-US" sz="1300" dirty="0">
                          <a:solidFill>
                            <a:srgbClr val="22303C"/>
                          </a:solidFill>
                        </a:rPr>
                        <a:t>Absorptance α</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0.90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Duffie &amp; Beckman (τα ≈ 0.9)</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303C"/>
                          </a:solidFill>
                        </a:rPr>
                        <a:t>Emissivity glass / backsheet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0.84 / 0.89</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Literature range 0.84–0.91</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84048">
                <a:tc>
                  <a:txBody>
                    <a:bodyPr/>
                    <a:lstStyle/>
                    <a:p>
                      <a:pPr indent="0" marL="0">
                        <a:buNone/>
                      </a:pPr>
                      <a:r>
                        <a:rPr lang="en-US" sz="1300" dirty="0">
                          <a:solidFill>
                            <a:srgbClr val="22303C"/>
                          </a:solidFill>
                        </a:rPr>
                        <a:t>Sky temperature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0.0552 T_a^1.5</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Swinbank 1963</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303C"/>
                          </a:solidFill>
                        </a:rPr>
                        <a:t>Wind slope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3.0 W/m²K per m/s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Watmuff et al. 1977</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84048">
                <a:tc>
                  <a:txBody>
                    <a:bodyPr/>
                    <a:lstStyle/>
                    <a:p>
                      <a:pPr indent="0" marL="0">
                        <a:buNone/>
                      </a:pPr>
                      <a:r>
                        <a:rPr lang="en-US" sz="1300" dirty="0">
                          <a:solidFill>
                            <a:srgbClr val="22303C"/>
                          </a:solidFill>
                        </a:rPr>
                        <a:t>h_free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5.55 W/m²K</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Calibrated to NOCT 43 °C</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bl>
          </a:graphicData>
        </a:graphic>
      </p:graphicFrame>
      <p:sp>
        <p:nvSpPr>
          <p:cNvPr id="7" name="card Calibration at NOCT (800 W/m², 20 °C, 1 m/s, P = 0)"/>
          <p:cNvSpPr/>
          <p:nvPr/>
        </p:nvSpPr>
        <p:spPr>
          <a:xfrm>
            <a:off x="6858000" y="2606040"/>
            <a:ext cx="4754880" cy="1463040"/>
          </a:xfrm>
          <a:prstGeom prst="roundRect">
            <a:avLst>
              <a:gd name="adj" fmla="val 5000"/>
            </a:avLst>
          </a:prstGeom>
          <a:solidFill>
            <a:srgbClr val="FBEBD3"/>
          </a:solidFill>
          <a:ln w="12700">
            <a:solidFill>
              <a:srgbClr val="FBEBD3"/>
            </a:solidFill>
            <a:prstDash val="solid"/>
          </a:ln>
        </p:spPr>
      </p:sp>
      <p:sp>
        <p:nvSpPr>
          <p:cNvPr id="8" name="cardtext Calibration at NOCT (800 W/m², 20 °C, 1 m/s, P = 0)"/>
          <p:cNvSpPr txBox="1"/>
          <p:nvPr/>
        </p:nvSpPr>
        <p:spPr>
          <a:xfrm>
            <a:off x="7022592" y="2734056"/>
            <a:ext cx="4425696" cy="120700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Calibration at NOCT (800 W/m², 20 °C, 1 m/s, P = 0)</a:t>
            </a:r>
            <a:endParaRPr lang="en-US" sz="1600" dirty="0"/>
          </a:p>
          <a:p>
            <a:pPr indent="0" marL="0">
              <a:buNone/>
            </a:pPr>
            <a:r>
              <a:rPr lang="en-US" sz="1300" dirty="0">
                <a:solidFill>
                  <a:srgbClr val="2B3A47"/>
                </a:solidFill>
              </a:rPr>
              <a:t>Absorbed 720 − radiation 326.7 = 393.3 W/m²  →  h = 393.3/46 = 8.55  →  h_free = 8.55 − 3.0 = 5.55</a:t>
            </a:r>
            <a:endParaRPr lang="en-US" sz="1600" dirty="0"/>
          </a:p>
        </p:txBody>
      </p:sp>
      <p:sp>
        <p:nvSpPr>
          <p:cNvPr id="9" name="card Jodhpur noon, 900 W/m², 35 °C"/>
          <p:cNvSpPr/>
          <p:nvPr/>
        </p:nvSpPr>
        <p:spPr>
          <a:xfrm>
            <a:off x="6858000" y="4206240"/>
            <a:ext cx="4754880" cy="1371600"/>
          </a:xfrm>
          <a:prstGeom prst="roundRect">
            <a:avLst>
              <a:gd name="adj" fmla="val 5333"/>
            </a:avLst>
          </a:prstGeom>
          <a:solidFill>
            <a:srgbClr val="EEF3F5"/>
          </a:solidFill>
          <a:ln w="12700">
            <a:solidFill>
              <a:srgbClr val="EEF3F5"/>
            </a:solidFill>
            <a:prstDash val="solid"/>
          </a:ln>
        </p:spPr>
      </p:sp>
      <p:sp>
        <p:nvSpPr>
          <p:cNvPr id="10" name="cardtext Jodhpur noon, 900 W/m², 35 °C"/>
          <p:cNvSpPr txBox="1"/>
          <p:nvPr/>
        </p:nvSpPr>
        <p:spPr>
          <a:xfrm>
            <a:off x="7022592" y="4334256"/>
            <a:ext cx="4425696" cy="111556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Jodhpur noon, 900 W/m², 35 °C</a:t>
            </a:r>
            <a:endParaRPr lang="en-US" sz="1600" dirty="0"/>
          </a:p>
          <a:p>
            <a:pPr indent="0" marL="0">
              <a:buNone/>
            </a:pPr>
            <a:r>
              <a:rPr lang="en-US" sz="1300" dirty="0">
                <a:solidFill>
                  <a:srgbClr val="2B3A47"/>
                </a:solidFill>
              </a:rPr>
              <a:t>T_c = 49.7 °C at 3 m/s; 56.7 °C nearly calm. Producing power at NOCT conditions: 36.9 °C, not 43 °C.</a:t>
            </a:r>
            <a:endParaRPr lang="en-US" sz="1600" dirty="0"/>
          </a:p>
        </p:txBody>
      </p:sp>
      <p:sp>
        <p:nvSpPr>
          <p:cNvPr id="11" name="takeaway bg"/>
          <p:cNvSpPr/>
          <p:nvPr/>
        </p:nvSpPr>
        <p:spPr>
          <a:xfrm>
            <a:off x="548640" y="5760720"/>
            <a:ext cx="11064240" cy="502920"/>
          </a:xfrm>
          <a:prstGeom prst="roundRect">
            <a:avLst>
              <a:gd name="adj" fmla="val 10909"/>
            </a:avLst>
          </a:prstGeom>
          <a:solidFill>
            <a:srgbClr val="FBEBD3"/>
          </a:solidFill>
          <a:ln w="12700">
            <a:solidFill>
              <a:srgbClr val="FBEBD3"/>
            </a:solidFill>
            <a:prstDash val="solid"/>
          </a:ln>
        </p:spPr>
      </p:sp>
      <p:sp>
        <p:nvSpPr>
          <p:cNvPr id="12" name="takeaway"/>
          <p:cNvSpPr txBox="1"/>
          <p:nvPr/>
        </p:nvSpPr>
        <p:spPr>
          <a:xfrm>
            <a:off x="731520" y="5760720"/>
            <a:ext cx="10698480" cy="502920"/>
          </a:xfrm>
          <a:prstGeom prst="rect">
            <a:avLst/>
          </a:prstGeom>
          <a:noFill/>
          <a:ln/>
        </p:spPr>
        <p:txBody>
          <a:bodyPr wrap="square" lIns="0" tIns="0" rIns="0" bIns="0" rtlCol="0" anchor="ctr"/>
          <a:lstStyle/>
          <a:p>
            <a:pPr indent="0" marL="0">
              <a:buNone/>
            </a:pPr>
            <a:r>
              <a:rPr lang="en-US" sz="1500" b="1" dirty="0">
                <a:solidFill>
                  <a:srgbClr val="7A4A0E"/>
                </a:solidFill>
              </a:rPr>
              <a:t>The NOCT formula ignores wind, sky and electrical cooling: cells 6–9 K too hot, yield 1.8–2.8 % too low</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Efficiency and power: temperature, weak light, reflection</a:t>
            </a:r>
            <a:endParaRPr lang="en-US" sz="3000" dirty="0"/>
          </a:p>
        </p:txBody>
      </p:sp>
      <p:sp>
        <p:nvSpPr>
          <p:cNvPr id="4" name="eqbg"/>
          <p:cNvSpPr/>
          <p:nvPr/>
        </p:nvSpPr>
        <p:spPr>
          <a:xfrm>
            <a:off x="548640" y="1325880"/>
            <a:ext cx="11064240" cy="1371600"/>
          </a:xfrm>
          <a:prstGeom prst="roundRect">
            <a:avLst>
              <a:gd name="adj" fmla="val 4000"/>
            </a:avLst>
          </a:prstGeom>
          <a:solidFill>
            <a:srgbClr val="F3F5F7"/>
          </a:solidFill>
          <a:ln w="12700">
            <a:solidFill>
              <a:srgbClr val="DDE3E8"/>
            </a:solidFill>
            <a:prstDash val="solid"/>
          </a:ln>
        </p:spPr>
      </p:sp>
      <p:sp>
        <p:nvSpPr>
          <p:cNvPr id="5" name="equation"/>
          <p:cNvSpPr txBox="1"/>
          <p:nvPr/>
        </p:nvSpPr>
        <p:spPr>
          <a:xfrm>
            <a:off x="731520" y="1417320"/>
            <a:ext cx="10698480" cy="1188720"/>
          </a:xfrm>
          <a:prstGeom prst="rect">
            <a:avLst/>
          </a:prstGeom>
          <a:noFill/>
          <a:ln/>
        </p:spPr>
        <p:txBody>
          <a:bodyPr wrap="square" lIns="0" tIns="0" rIns="0" bIns="0" rtlCol="0" anchor="ctr"/>
          <a:lstStyle/>
          <a:p>
            <a:pPr indent="0" marL="0">
              <a:spcAft>
                <a:spcPts val="400"/>
              </a:spcAft>
              <a:buNone/>
            </a:pPr>
            <a:r>
              <a:rPr lang="en-US" sz="1700" dirty="0">
                <a:solidFill>
                  <a:srgbClr val="18232F"/>
                </a:solidFill>
                <a:latin typeface="Cambria" pitchFamily="34" charset="0"/>
                <a:ea typeface="Cambria" pitchFamily="34" charset="-122"/>
                <a:cs typeface="Cambria" pitchFamily="34" charset="-120"/>
              </a:rPr>
              <a:t>G_eff = G_b·[1 − 0.05(1/cos θ − 1)] + 0.95 G_d + 0.65 G_r</a:t>
            </a:r>
            <a:endParaRPr lang="en-US" sz="1700" dirty="0"/>
          </a:p>
          <a:p>
            <a:pPr indent="0" marL="0">
              <a:spcAft>
                <a:spcPts val="400"/>
              </a:spcAft>
              <a:buNone/>
            </a:pPr>
            <a:r>
              <a:rPr lang="en-US" sz="1700" dirty="0">
                <a:solidFill>
                  <a:srgbClr val="18232F"/>
                </a:solidFill>
                <a:latin typeface="Cambria" pitchFamily="34" charset="0"/>
                <a:ea typeface="Cambria" pitchFamily="34" charset="-122"/>
                <a:cs typeface="Cambria" pitchFamily="34" charset="-120"/>
              </a:rPr>
              <a:t>η = η_ref · f_low(G') · [1 − β (T_c − 25)],   f_low = 1 + k₁ ln G' + k₂ (ln G')²</a:t>
            </a:r>
            <a:endParaRPr lang="en-US" sz="1700" dirty="0"/>
          </a:p>
          <a:p>
            <a:pPr indent="0" marL="0">
              <a:spcAft>
                <a:spcPts val="400"/>
              </a:spcAft>
              <a:buNone/>
            </a:pPr>
            <a:r>
              <a:rPr lang="en-US" sz="1700" dirty="0">
                <a:solidFill>
                  <a:srgbClr val="18232F"/>
                </a:solidFill>
                <a:latin typeface="Cambria" pitchFamily="34" charset="0"/>
                <a:ea typeface="Cambria" pitchFamily="34" charset="-122"/>
                <a:cs typeface="Cambria" pitchFamily="34" charset="-120"/>
              </a:rPr>
              <a:t>P_DC = η A G_eff,     P_AC = P_DC × 0.98 × 0.97</a:t>
            </a:r>
            <a:endParaRPr lang="en-US" sz="1700" dirty="0"/>
          </a:p>
        </p:txBody>
      </p:sp>
      <p:sp>
        <p:nvSpPr>
          <p:cNvPr id="6" name="card 25 °C is a reference"/>
          <p:cNvSpPr/>
          <p:nvPr/>
        </p:nvSpPr>
        <p:spPr>
          <a:xfrm>
            <a:off x="548640" y="2926080"/>
            <a:ext cx="3566160" cy="2606040"/>
          </a:xfrm>
          <a:prstGeom prst="roundRect">
            <a:avLst>
              <a:gd name="adj" fmla="val 2807"/>
            </a:avLst>
          </a:prstGeom>
          <a:solidFill>
            <a:srgbClr val="EEF3F5"/>
          </a:solidFill>
          <a:ln w="12700">
            <a:solidFill>
              <a:srgbClr val="EEF3F5"/>
            </a:solidFill>
            <a:prstDash val="solid"/>
          </a:ln>
        </p:spPr>
      </p:sp>
      <p:sp>
        <p:nvSpPr>
          <p:cNvPr id="7" name="cardtext 25 °C is a reference"/>
          <p:cNvSpPr txBox="1"/>
          <p:nvPr/>
        </p:nvSpPr>
        <p:spPr>
          <a:xfrm>
            <a:off x="713232" y="3054096"/>
            <a:ext cx="3236976" cy="235000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25 °C is a reference</a:t>
            </a:r>
            <a:endParaRPr lang="en-US" sz="1600" dirty="0"/>
          </a:p>
          <a:p>
            <a:pPr indent="0" marL="0">
              <a:buNone/>
            </a:pPr>
            <a:r>
              <a:rPr lang="en-US" sz="1400" dirty="0">
                <a:solidFill>
                  <a:srgbClr val="2B3A47"/>
                </a:solidFill>
              </a:rPr>
              <a:t>STC cell temperature at which η_ref and β were measured. Bracket = 1 at 25 °C, &lt; 1 hotter, &gt; 1 colder. Air temperature enters only through T_c.</a:t>
            </a:r>
            <a:endParaRPr lang="en-US" sz="1600" dirty="0"/>
          </a:p>
        </p:txBody>
      </p:sp>
      <p:sp>
        <p:nvSpPr>
          <p:cNvPr id="8" name="card Weak light (Huld 2011)"/>
          <p:cNvSpPr/>
          <p:nvPr/>
        </p:nvSpPr>
        <p:spPr>
          <a:xfrm>
            <a:off x="4297680" y="2926080"/>
            <a:ext cx="3566160" cy="2606040"/>
          </a:xfrm>
          <a:prstGeom prst="roundRect">
            <a:avLst>
              <a:gd name="adj" fmla="val 2807"/>
            </a:avLst>
          </a:prstGeom>
          <a:solidFill>
            <a:srgbClr val="EEF3F5"/>
          </a:solidFill>
          <a:ln w="12700">
            <a:solidFill>
              <a:srgbClr val="EEF3F5"/>
            </a:solidFill>
            <a:prstDash val="solid"/>
          </a:ln>
        </p:spPr>
      </p:sp>
      <p:sp>
        <p:nvSpPr>
          <p:cNvPr id="9" name="cardtext Weak light (Huld 2011)"/>
          <p:cNvSpPr txBox="1"/>
          <p:nvPr/>
        </p:nvSpPr>
        <p:spPr>
          <a:xfrm>
            <a:off x="4462272" y="3054096"/>
            <a:ext cx="3236976" cy="235000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Weak light (Huld 2011)</a:t>
            </a:r>
            <a:endParaRPr lang="en-US" sz="1600" dirty="0"/>
          </a:p>
          <a:p>
            <a:pPr indent="0" marL="0">
              <a:buNone/>
            </a:pPr>
            <a:r>
              <a:rPr lang="en-US" sz="1400" dirty="0">
                <a:solidFill>
                  <a:srgbClr val="2B3A47"/>
                </a:solidFill>
              </a:rPr>
              <a:t>k₁ = −0.017237, k₂ = −0.040465 (PVGIS-5 c-Si). f_low = 1.00 at 1000, 0.98 at 400, 0.92 at 200 W/m². Losses 1.5–2.4 %/yr.</a:t>
            </a:r>
            <a:endParaRPr lang="en-US" sz="1600" dirty="0"/>
          </a:p>
        </p:txBody>
      </p:sp>
      <p:sp>
        <p:nvSpPr>
          <p:cNvPr id="10" name="card Reflection (IAM)"/>
          <p:cNvSpPr/>
          <p:nvPr/>
        </p:nvSpPr>
        <p:spPr>
          <a:xfrm>
            <a:off x="8046720" y="2926080"/>
            <a:ext cx="3566160" cy="2606040"/>
          </a:xfrm>
          <a:prstGeom prst="roundRect">
            <a:avLst>
              <a:gd name="adj" fmla="val 2807"/>
            </a:avLst>
          </a:prstGeom>
          <a:solidFill>
            <a:srgbClr val="EEF3F5"/>
          </a:solidFill>
          <a:ln w="12700">
            <a:solidFill>
              <a:srgbClr val="EEF3F5"/>
            </a:solidFill>
            <a:prstDash val="solid"/>
          </a:ln>
        </p:spPr>
      </p:sp>
      <p:sp>
        <p:nvSpPr>
          <p:cNvPr id="11" name="cardtext Reflection (IAM)"/>
          <p:cNvSpPr txBox="1"/>
          <p:nvPr/>
        </p:nvSpPr>
        <p:spPr>
          <a:xfrm>
            <a:off x="8211312" y="3054096"/>
            <a:ext cx="3236976" cy="235000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Reflection (IAM)</a:t>
            </a:r>
            <a:endParaRPr lang="en-US" sz="1600" dirty="0"/>
          </a:p>
          <a:p>
            <a:pPr indent="0" marL="0">
              <a:buNone/>
            </a:pPr>
            <a:r>
              <a:rPr lang="en-US" sz="1400" dirty="0">
                <a:solidFill>
                  <a:srgbClr val="2B3A47"/>
                </a:solidFill>
              </a:rPr>
              <a:t>Beam: ASHRAE, b₀ = 0.05 (PVsyst default). Sky: 0.95 (Martin &amp; Ruiz). Ground: 0.65, under 1 % of light at 20°.</a:t>
            </a:r>
            <a:endParaRPr lang="en-US" sz="1600" dirty="0"/>
          </a:p>
        </p:txBody>
      </p:sp>
      <p:sp>
        <p:nvSpPr>
          <p:cNvPr id="12" name="takeaway bg"/>
          <p:cNvSpPr/>
          <p:nvPr/>
        </p:nvSpPr>
        <p:spPr>
          <a:xfrm>
            <a:off x="548640" y="5760720"/>
            <a:ext cx="11064240" cy="502920"/>
          </a:xfrm>
          <a:prstGeom prst="roundRect">
            <a:avLst>
              <a:gd name="adj" fmla="val 10909"/>
            </a:avLst>
          </a:prstGeom>
          <a:solidFill>
            <a:srgbClr val="FBEBD3"/>
          </a:solidFill>
          <a:ln w="12700">
            <a:solidFill>
              <a:srgbClr val="FBEBD3"/>
            </a:solidFill>
            <a:prstDash val="solid"/>
          </a:ln>
        </p:spPr>
      </p:sp>
      <p:sp>
        <p:nvSpPr>
          <p:cNvPr id="13" name="takeaway"/>
          <p:cNvSpPr txBox="1"/>
          <p:nvPr/>
        </p:nvSpPr>
        <p:spPr>
          <a:xfrm>
            <a:off x="731520" y="5760720"/>
            <a:ext cx="10698480" cy="502920"/>
          </a:xfrm>
          <a:prstGeom prst="rect">
            <a:avLst/>
          </a:prstGeom>
          <a:noFill/>
          <a:ln/>
        </p:spPr>
        <p:txBody>
          <a:bodyPr wrap="square" lIns="0" tIns="0" rIns="0" bIns="0" rtlCol="0" anchor="ctr"/>
          <a:lstStyle/>
          <a:p>
            <a:pPr indent="0" marL="0">
              <a:buNone/>
            </a:pPr>
            <a:r>
              <a:rPr lang="en-US" sz="1500" b="1" dirty="0">
                <a:solidFill>
                  <a:srgbClr val="7A4A0E"/>
                </a:solidFill>
              </a:rPr>
              <a:t>Annual losses: temperature 5.0 / 3.2 / 3.8 %, weak light 1.5 / 2.2 / 2.4 % (J / B / G)</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Exergy of sunlight: beam 0.93, diffuse light only 0.67–0.80</a:t>
            </a:r>
            <a:endParaRPr lang="en-US" sz="3000" dirty="0"/>
          </a:p>
        </p:txBody>
      </p:sp>
      <p:sp>
        <p:nvSpPr>
          <p:cNvPr id="4" name="eqbg"/>
          <p:cNvSpPr/>
          <p:nvPr/>
        </p:nvSpPr>
        <p:spPr>
          <a:xfrm>
            <a:off x="548640" y="1325880"/>
            <a:ext cx="11064240" cy="1417320"/>
          </a:xfrm>
          <a:prstGeom prst="roundRect">
            <a:avLst>
              <a:gd name="adj" fmla="val 3871"/>
            </a:avLst>
          </a:prstGeom>
          <a:solidFill>
            <a:srgbClr val="F3F5F7"/>
          </a:solidFill>
          <a:ln w="12700">
            <a:solidFill>
              <a:srgbClr val="DDE3E8"/>
            </a:solidFill>
            <a:prstDash val="solid"/>
          </a:ln>
        </p:spPr>
      </p:sp>
      <p:sp>
        <p:nvSpPr>
          <p:cNvPr id="5" name="equation"/>
          <p:cNvSpPr txBox="1"/>
          <p:nvPr/>
        </p:nvSpPr>
        <p:spPr>
          <a:xfrm>
            <a:off x="731520" y="1417320"/>
            <a:ext cx="10698480" cy="1234440"/>
          </a:xfrm>
          <a:prstGeom prst="rect">
            <a:avLst/>
          </a:prstGeom>
          <a:noFill/>
          <a:ln/>
        </p:spPr>
        <p:txBody>
          <a:bodyPr wrap="square" lIns="0" tIns="0" rIns="0" bIns="0" rtlCol="0" anchor="ctr"/>
          <a:lstStyle/>
          <a:p>
            <a:pPr indent="0" marL="0">
              <a:spcAft>
                <a:spcPts val="400"/>
              </a:spcAft>
              <a:buNone/>
            </a:pPr>
            <a:r>
              <a:rPr lang="en-US" sz="1600" dirty="0">
                <a:solidFill>
                  <a:srgbClr val="18232F"/>
                </a:solidFill>
                <a:latin typeface="Cambria" pitchFamily="34" charset="0"/>
                <a:ea typeface="Cambria" pitchFamily="34" charset="-122"/>
                <a:cs typeface="Cambria" pitchFamily="34" charset="-120"/>
              </a:rPr>
              <a:t>ψ_P = 1 − (4/3)(T₀/T_s) + (1/3)(T₀/T_s)⁴ = 0.931      (T₀ = 300 K, T_s = 5778 K)</a:t>
            </a:r>
            <a:endParaRPr lang="en-US" sz="1600" dirty="0"/>
          </a:p>
          <a:p>
            <a:pPr indent="0" marL="0">
              <a:spcAft>
                <a:spcPts val="400"/>
              </a:spcAft>
              <a:buNone/>
            </a:pPr>
            <a:r>
              <a:rPr lang="en-US" sz="1600" dirty="0">
                <a:solidFill>
                  <a:srgbClr val="18232F"/>
                </a:solidFill>
                <a:latin typeface="Cambria" pitchFamily="34" charset="0"/>
                <a:ea typeface="Cambria" pitchFamily="34" charset="-122"/>
                <a:cs typeface="Cambria" pitchFamily="34" charset="-120"/>
              </a:rPr>
              <a:t>ψ(ε) = 1 − (4/3)(T₀/T_s) X(ε),   X(ε) = 45/(4π⁴ε) ∫ x²[(1+n)ln(1+n) − n ln n] dx,  n = ε/(eˣ−1)</a:t>
            </a:r>
            <a:endParaRPr lang="en-US" sz="1600" dirty="0"/>
          </a:p>
          <a:p>
            <a:pPr indent="0" marL="0">
              <a:spcAft>
                <a:spcPts val="400"/>
              </a:spcAft>
              <a:buNone/>
            </a:pPr>
            <a:r>
              <a:rPr lang="en-US" sz="1600" dirty="0">
                <a:solidFill>
                  <a:srgbClr val="18232F"/>
                </a:solidFill>
                <a:latin typeface="Cambria" pitchFamily="34" charset="0"/>
                <a:ea typeface="Cambria" pitchFamily="34" charset="-122"/>
                <a:cs typeface="Cambria" pitchFamily="34" charset="-120"/>
              </a:rPr>
              <a:t>Ex_in = A [ G_b ψ_P + G_d ψ(ε_d) + G_r ψ(ε_r) ]</a:t>
            </a:r>
            <a:endParaRPr lang="en-US" sz="1600" dirty="0"/>
          </a:p>
        </p:txBody>
      </p:sp>
      <p:pic>
        <p:nvPicPr>
          <p:cNvPr id="6" name="fig fig11_sunlight_exergy.png" descr="Sunlight exergy content">    </p:cNvPr>
          <p:cNvPicPr>
            <a:picLocks noChangeAspect="1"/>
          </p:cNvPicPr>
          <p:nvPr/>
        </p:nvPicPr>
        <p:blipFill>
          <a:blip r:embed="rId1"/>
          <a:stretch>
            <a:fillRect/>
          </a:stretch>
        </p:blipFill>
        <p:spPr>
          <a:xfrm>
            <a:off x="729993" y="2880360"/>
            <a:ext cx="7226813" cy="2743200"/>
          </a:xfrm>
          <a:prstGeom prst="rect">
            <a:avLst/>
          </a:prstGeom>
        </p:spPr>
      </p:pic>
      <p:sp>
        <p:nvSpPr>
          <p:cNvPr id="7" name="card What this changes"/>
          <p:cNvSpPr/>
          <p:nvPr/>
        </p:nvSpPr>
        <p:spPr>
          <a:xfrm>
            <a:off x="8321040" y="2926080"/>
            <a:ext cx="3291840" cy="2651760"/>
          </a:xfrm>
          <a:prstGeom prst="roundRect">
            <a:avLst>
              <a:gd name="adj" fmla="val 2759"/>
            </a:avLst>
          </a:prstGeom>
          <a:solidFill>
            <a:srgbClr val="FBEBD3"/>
          </a:solidFill>
          <a:ln w="12700">
            <a:solidFill>
              <a:srgbClr val="FBEBD3"/>
            </a:solidFill>
            <a:prstDash val="solid"/>
          </a:ln>
        </p:spPr>
      </p:sp>
      <p:sp>
        <p:nvSpPr>
          <p:cNvPr id="8" name="cardtext What this changes"/>
          <p:cNvSpPr txBox="1"/>
          <p:nvPr/>
        </p:nvSpPr>
        <p:spPr>
          <a:xfrm>
            <a:off x="8485632" y="3054096"/>
            <a:ext cx="2962656" cy="239572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What this changes</a:t>
            </a:r>
            <a:endParaRPr lang="en-US" sz="1600" dirty="0"/>
          </a:p>
          <a:p>
            <a:pPr indent="0" marL="0">
              <a:buNone/>
            </a:pPr>
            <a:r>
              <a:rPr lang="en-US" sz="1400" dirty="0">
                <a:solidFill>
                  <a:srgbClr val="2B3A47"/>
                </a:solidFill>
              </a:rPr>
              <a:t>Annual exergy content 0.81–0.84, monsoon 0.77–0.81. All-Petela input (Checkpoint 2) overstated Ex_in by 11–15 %.</a:t>
            </a:r>
            <a:endParaRPr lang="en-US" sz="1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PV exergy balance and the identity behind the main result</a:t>
            </a:r>
            <a:endParaRPr lang="en-US" sz="3000" dirty="0"/>
          </a:p>
        </p:txBody>
      </p:sp>
      <p:sp>
        <p:nvSpPr>
          <p:cNvPr id="4" name="eqbg"/>
          <p:cNvSpPr/>
          <p:nvPr/>
        </p:nvSpPr>
        <p:spPr>
          <a:xfrm>
            <a:off x="548640" y="1325880"/>
            <a:ext cx="11064240" cy="1325880"/>
          </a:xfrm>
          <a:prstGeom prst="roundRect">
            <a:avLst>
              <a:gd name="adj" fmla="val 4138"/>
            </a:avLst>
          </a:prstGeom>
          <a:solidFill>
            <a:srgbClr val="F3F5F7"/>
          </a:solidFill>
          <a:ln w="12700">
            <a:solidFill>
              <a:srgbClr val="DDE3E8"/>
            </a:solidFill>
            <a:prstDash val="solid"/>
          </a:ln>
        </p:spPr>
      </p:sp>
      <p:sp>
        <p:nvSpPr>
          <p:cNvPr id="5" name="equation"/>
          <p:cNvSpPr txBox="1"/>
          <p:nvPr/>
        </p:nvSpPr>
        <p:spPr>
          <a:xfrm>
            <a:off x="731520" y="1417320"/>
            <a:ext cx="10698480" cy="1143000"/>
          </a:xfrm>
          <a:prstGeom prst="rect">
            <a:avLst/>
          </a:prstGeom>
          <a:noFill/>
          <a:ln/>
        </p:spPr>
        <p:txBody>
          <a:bodyPr wrap="square" lIns="0" tIns="0" rIns="0" bIns="0" rtlCol="0" anchor="ctr"/>
          <a:lstStyle/>
          <a:p>
            <a:pPr indent="0" marL="0">
              <a:spcAft>
                <a:spcPts val="400"/>
              </a:spcAft>
              <a:buNone/>
            </a:pPr>
            <a:r>
              <a:rPr lang="en-US" sz="1700" dirty="0">
                <a:solidFill>
                  <a:srgbClr val="18232F"/>
                </a:solidFill>
                <a:latin typeface="Cambria" pitchFamily="34" charset="0"/>
                <a:ea typeface="Cambria" pitchFamily="34" charset="-122"/>
                <a:cs typeface="Cambria" pitchFamily="34" charset="-120"/>
              </a:rPr>
              <a:t>Ex_opt = A Σ G_k (1 − α IAM_k) ψ_k        Ex_Q = Q_heat (1 − T₀/T_c)</a:t>
            </a:r>
            <a:endParaRPr lang="en-US" sz="1700" dirty="0"/>
          </a:p>
          <a:p>
            <a:pPr indent="0" marL="0">
              <a:spcAft>
                <a:spcPts val="400"/>
              </a:spcAft>
              <a:buNone/>
            </a:pPr>
            <a:r>
              <a:rPr lang="en-US" sz="1700" dirty="0">
                <a:solidFill>
                  <a:srgbClr val="18232F"/>
                </a:solidFill>
                <a:latin typeface="Cambria" pitchFamily="34" charset="0"/>
                <a:ea typeface="Cambria" pitchFamily="34" charset="-122"/>
                <a:cs typeface="Cambria" pitchFamily="34" charset="-120"/>
              </a:rPr>
              <a:t>Ex_int = Ex_in − P − Ex_opt − Ex_Q = T₀ S_gen,int ≥ 0</a:t>
            </a:r>
            <a:endParaRPr lang="en-US" sz="1700" dirty="0"/>
          </a:p>
          <a:p>
            <a:pPr indent="0" marL="0">
              <a:spcAft>
                <a:spcPts val="400"/>
              </a:spcAft>
              <a:buNone/>
            </a:pPr>
            <a:r>
              <a:rPr lang="en-US" sz="1700" dirty="0">
                <a:solidFill>
                  <a:srgbClr val="18232F"/>
                </a:solidFill>
                <a:latin typeface="Cambria" pitchFamily="34" charset="0"/>
                <a:ea typeface="Cambria" pitchFamily="34" charset="-122"/>
                <a:cs typeface="Cambria" pitchFamily="34" charset="-120"/>
              </a:rPr>
              <a:t>ψ_PV = P / Ex_in = η_PV / (Ex_in / E_in)</a:t>
            </a:r>
            <a:endParaRPr lang="en-US" sz="17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2926080"/>
          <a:ext cx="6400800" cy="914400"/>
        </p:xfrm>
        <a:graphic>
          <a:graphicData uri="http://schemas.openxmlformats.org/drawingml/2006/table">
            <a:tbl>
              <a:tblPr/>
              <a:tblGrid>
                <a:gridCol w="1645920"/>
                <a:gridCol w="1371600"/>
                <a:gridCol w="1554480"/>
                <a:gridCol w="1828800"/>
              </a:tblGrid>
              <a:tr h="457200">
                <a:tc>
                  <a:txBody>
                    <a:bodyPr/>
                    <a:lstStyle/>
                    <a:p>
                      <a:pPr indent="0" marL="0">
                        <a:buNone/>
                      </a:pPr>
                      <a:r>
                        <a:rPr lang="en-US" sz="1500" b="1" dirty="0">
                          <a:solidFill>
                            <a:srgbClr val="FFFFFF"/>
                          </a:solidFill>
                        </a:rPr>
                        <a:t>Annual</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500" b="1" dirty="0">
                          <a:solidFill>
                            <a:srgbClr val="FFFFFF"/>
                          </a:solidFill>
                        </a:rPr>
                        <a:t>η_PV</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500" b="1" dirty="0">
                          <a:solidFill>
                            <a:srgbClr val="FFFFFF"/>
                          </a:solidFill>
                        </a:rPr>
                        <a:t>Ex_in/E_in</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500" b="1" dirty="0">
                          <a:solidFill>
                            <a:srgbClr val="FFFFFF"/>
                          </a:solidFill>
                        </a:rPr>
                        <a:t>ψ_PV = η / (Ex/E)</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457200">
                <a:tc>
                  <a:txBody>
                    <a:bodyPr/>
                    <a:lstStyle/>
                    <a:p>
                      <a:pPr indent="0" marL="0">
                        <a:buNone/>
                      </a:pPr>
                      <a:r>
                        <a:rPr lang="en-US" sz="1500" dirty="0">
                          <a:solidFill>
                            <a:srgbClr val="22303C"/>
                          </a:solidFill>
                        </a:rPr>
                        <a:t>Jodhpur</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500" dirty="0">
                          <a:solidFill>
                            <a:srgbClr val="22303C"/>
                          </a:solidFill>
                        </a:rPr>
                        <a:t>20.83 %</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500" dirty="0">
                          <a:solidFill>
                            <a:srgbClr val="22303C"/>
                          </a:solidFill>
                        </a:rPr>
                        <a:t>0.839</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500" dirty="0">
                          <a:solidFill>
                            <a:srgbClr val="22303C"/>
                          </a:solidFill>
                        </a:rPr>
                        <a:t>24.83 %</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22303C"/>
                          </a:solidFill>
                        </a:rPr>
                        <a:t>Bengaluru</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500" dirty="0">
                          <a:solidFill>
                            <a:srgbClr val="22303C"/>
                          </a:solidFill>
                        </a:rPr>
                        <a:t>20.94 %</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500" dirty="0">
                          <a:solidFill>
                            <a:srgbClr val="22303C"/>
                          </a:solidFill>
                        </a:rPr>
                        <a:t>0.808</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500" dirty="0">
                          <a:solidFill>
                            <a:srgbClr val="22303C"/>
                          </a:solidFill>
                        </a:rPr>
                        <a:t>25.92 %</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57200">
                <a:tc>
                  <a:txBody>
                    <a:bodyPr/>
                    <a:lstStyle/>
                    <a:p>
                      <a:pPr indent="0" marL="0">
                        <a:buNone/>
                      </a:pPr>
                      <a:r>
                        <a:rPr lang="en-US" sz="1500" dirty="0">
                          <a:solidFill>
                            <a:srgbClr val="22303C"/>
                          </a:solidFill>
                        </a:rPr>
                        <a:t>Guwahati</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500" dirty="0">
                          <a:solidFill>
                            <a:srgbClr val="22303C"/>
                          </a:solidFill>
                        </a:rPr>
                        <a:t>20.82 %</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500" dirty="0">
                          <a:solidFill>
                            <a:srgbClr val="22303C"/>
                          </a:solidFill>
                        </a:rPr>
                        <a:t>0.814</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500" dirty="0">
                          <a:solidFill>
                            <a:srgbClr val="22303C"/>
                          </a:solidFill>
                        </a:rPr>
                        <a:t>25.57 %</a:t>
                      </a:r>
                      <a:endParaRPr lang="en-US" sz="15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bl>
          </a:graphicData>
        </a:graphic>
      </p:graphicFrame>
      <p:sp>
        <p:nvSpPr>
          <p:cNvPr id="7" name="card Read it this way"/>
          <p:cNvSpPr/>
          <p:nvPr/>
        </p:nvSpPr>
        <p:spPr>
          <a:xfrm>
            <a:off x="7223760" y="2926080"/>
            <a:ext cx="4389120" cy="1828800"/>
          </a:xfrm>
          <a:prstGeom prst="roundRect">
            <a:avLst>
              <a:gd name="adj" fmla="val 4000"/>
            </a:avLst>
          </a:prstGeom>
          <a:solidFill>
            <a:srgbClr val="DCEFEC"/>
          </a:solidFill>
          <a:ln w="12700">
            <a:solidFill>
              <a:srgbClr val="DCEFEC"/>
            </a:solidFill>
            <a:prstDash val="solid"/>
          </a:ln>
        </p:spPr>
      </p:sp>
      <p:sp>
        <p:nvSpPr>
          <p:cNvPr id="8" name="cardtext Read it this way"/>
          <p:cNvSpPr txBox="1"/>
          <p:nvPr/>
        </p:nvSpPr>
        <p:spPr>
          <a:xfrm>
            <a:off x="7388352" y="3054096"/>
            <a:ext cx="4059936" cy="157276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Read it this way</a:t>
            </a:r>
            <a:endParaRPr lang="en-US" sz="1600" dirty="0"/>
          </a:p>
          <a:p>
            <a:pPr indent="0" marL="0">
              <a:buNone/>
            </a:pPr>
            <a:r>
              <a:rPr lang="en-US" sz="1500" dirty="0">
                <a:solidFill>
                  <a:srgbClr val="2B3A47"/>
                </a:solidFill>
              </a:rPr>
              <a:t>η is nearly identical in all three cities. ψ differs because the denominator, the exergy content of the light, differs.</a:t>
            </a:r>
            <a:endParaRPr lang="en-US" sz="1600" dirty="0"/>
          </a:p>
        </p:txBody>
      </p:sp>
      <p:sp>
        <p:nvSpPr>
          <p:cNvPr id="9" name="takeaway bg"/>
          <p:cNvSpPr/>
          <p:nvPr/>
        </p:nvSpPr>
        <p:spPr>
          <a:xfrm>
            <a:off x="548640" y="5120640"/>
            <a:ext cx="11064240" cy="502920"/>
          </a:xfrm>
          <a:prstGeom prst="roundRect">
            <a:avLst>
              <a:gd name="adj" fmla="val 10909"/>
            </a:avLst>
          </a:prstGeom>
          <a:solidFill>
            <a:srgbClr val="FBEBD3"/>
          </a:solidFill>
          <a:ln w="12700">
            <a:solidFill>
              <a:srgbClr val="FBEBD3"/>
            </a:solidFill>
            <a:prstDash val="solid"/>
          </a:ln>
        </p:spPr>
      </p:sp>
      <p:sp>
        <p:nvSpPr>
          <p:cNvPr id="10" name="takeaway"/>
          <p:cNvSpPr txBox="1"/>
          <p:nvPr/>
        </p:nvSpPr>
        <p:spPr>
          <a:xfrm>
            <a:off x="731520" y="5120640"/>
            <a:ext cx="10698480" cy="502920"/>
          </a:xfrm>
          <a:prstGeom prst="rect">
            <a:avLst/>
          </a:prstGeom>
          <a:noFill/>
          <a:ln/>
        </p:spPr>
        <p:txBody>
          <a:bodyPr wrap="square" lIns="0" tIns="0" rIns="0" bIns="0" rtlCol="0" anchor="ctr"/>
          <a:lstStyle/>
          <a:p>
            <a:pPr indent="0" marL="0">
              <a:buNone/>
            </a:pPr>
            <a:r>
              <a:rPr lang="en-US" sz="1500" b="1" dirty="0">
                <a:solidFill>
                  <a:srgbClr val="7A4A0E"/>
                </a:solidFill>
              </a:rPr>
              <a:t>Ex_in &lt; A·G, so ψ_PV &gt; η_PV always (Checkpoint 2 stated ψ &lt; η: corrected)</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Battery, converters and dispatch</a:t>
            </a:r>
            <a:endParaRPr lang="en-US" sz="3000" dirty="0"/>
          </a:p>
        </p:txBody>
      </p:sp>
      <p:sp>
        <p:nvSpPr>
          <p:cNvPr id="4" name="eqbg"/>
          <p:cNvSpPr/>
          <p:nvPr/>
        </p:nvSpPr>
        <p:spPr>
          <a:xfrm>
            <a:off x="548640" y="1325880"/>
            <a:ext cx="11064240" cy="1051560"/>
          </a:xfrm>
          <a:prstGeom prst="roundRect">
            <a:avLst>
              <a:gd name="adj" fmla="val 5217"/>
            </a:avLst>
          </a:prstGeom>
          <a:solidFill>
            <a:srgbClr val="F3F5F7"/>
          </a:solidFill>
          <a:ln w="12700">
            <a:solidFill>
              <a:srgbClr val="DDE3E8"/>
            </a:solidFill>
            <a:prstDash val="solid"/>
          </a:ln>
        </p:spPr>
      </p:sp>
      <p:sp>
        <p:nvSpPr>
          <p:cNvPr id="5" name="equation"/>
          <p:cNvSpPr txBox="1"/>
          <p:nvPr/>
        </p:nvSpPr>
        <p:spPr>
          <a:xfrm>
            <a:off x="731520" y="1417320"/>
            <a:ext cx="10698480" cy="868680"/>
          </a:xfrm>
          <a:prstGeom prst="rect">
            <a:avLst/>
          </a:prstGeom>
          <a:noFill/>
          <a:ln/>
        </p:spPr>
        <p:txBody>
          <a:bodyPr wrap="square" lIns="0" tIns="0" rIns="0" bIns="0" rtlCol="0" anchor="ctr"/>
          <a:lstStyle/>
          <a:p>
            <a:pPr indent="0" marL="0">
              <a:spcAft>
                <a:spcPts val="400"/>
              </a:spcAft>
              <a:buNone/>
            </a:pPr>
            <a:r>
              <a:rPr lang="en-US" sz="1600" dirty="0">
                <a:solidFill>
                  <a:srgbClr val="18232F"/>
                </a:solidFill>
                <a:latin typeface="Cambria" pitchFamily="34" charset="0"/>
                <a:ea typeface="Cambria" pitchFamily="34" charset="-122"/>
                <a:cs typeface="Cambria" pitchFamily="34" charset="-120"/>
              </a:rPr>
              <a:t>I = P / V_nom,   E(t+1) = E(t) + (P_c − P_d − I²R)Δt,   m c_p dT_b/dt = I²R − UA(T_b − T_a)</a:t>
            </a:r>
            <a:endParaRPr lang="en-US" sz="1600" dirty="0"/>
          </a:p>
          <a:p>
            <a:pPr indent="0" marL="0">
              <a:spcAft>
                <a:spcPts val="400"/>
              </a:spcAft>
              <a:buNone/>
            </a:pPr>
            <a:r>
              <a:rPr lang="en-US" sz="1600" dirty="0">
                <a:solidFill>
                  <a:srgbClr val="18232F"/>
                </a:solidFill>
                <a:latin typeface="Cambria" pitchFamily="34" charset="0"/>
                <a:ea typeface="Cambria" pitchFamily="34" charset="-122"/>
                <a:cs typeface="Cambria" pitchFamily="34" charset="-120"/>
              </a:rPr>
              <a:t>S_gen = Q/T_b + Q(1/T₀ − 1/T_b) = Q/T₀   ⇒   Ex_dest = T₀ S_gen = I²R</a:t>
            </a:r>
            <a:endParaRPr lang="en-US" sz="1600" dirty="0"/>
          </a:p>
        </p:txBody>
      </p:sp>
      <p:sp>
        <p:nvSpPr>
          <p:cNvPr id="6" name="card Battery"/>
          <p:cNvSpPr/>
          <p:nvPr/>
        </p:nvSpPr>
        <p:spPr>
          <a:xfrm>
            <a:off x="548640" y="2606040"/>
            <a:ext cx="3566160" cy="2926080"/>
          </a:xfrm>
          <a:prstGeom prst="roundRect">
            <a:avLst>
              <a:gd name="adj" fmla="val 2500"/>
            </a:avLst>
          </a:prstGeom>
          <a:solidFill>
            <a:srgbClr val="DCEFEC"/>
          </a:solidFill>
          <a:ln w="12700">
            <a:solidFill>
              <a:srgbClr val="DCEFEC"/>
            </a:solidFill>
            <a:prstDash val="solid"/>
          </a:ln>
        </p:spPr>
      </p:sp>
      <p:sp>
        <p:nvSpPr>
          <p:cNvPr id="7" name="cardtext Battery"/>
          <p:cNvSpPr txBox="1"/>
          <p:nvPr/>
        </p:nvSpPr>
        <p:spPr>
          <a:xfrm>
            <a:off x="713232" y="2734056"/>
            <a:ext cx="3236976" cy="267004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Battery</a:t>
            </a:r>
            <a:endParaRPr lang="en-US" sz="1600" dirty="0"/>
          </a:p>
          <a:p>
            <a:pPr indent="0" marL="0">
              <a:buNone/>
            </a:pPr>
            <a:r>
              <a:rPr lang="en-US" sz="1300" dirty="0">
                <a:solidFill>
                  <a:srgbClr val="2B3A47"/>
                </a:solidFill>
              </a:rPr>
              <a:t>Charge/discharge limits solve P ∓ kP² = room or energy / Δt, so the SOC window holds with losses.</a:t>
            </a:r>
            <a:endParaRPr lang="en-US" sz="1600" dirty="0"/>
          </a:p>
          <a:p>
            <a:pPr indent="0" marL="0">
              <a:buNone/>
            </a:pPr>
            <a:r>
              <a:rPr lang="en-US" sz="1300" dirty="0">
                <a:solidFill>
                  <a:srgbClr val="2B3A47"/>
                </a:solidFill>
              </a:rPr>
              <a:t>Fade 3.75 × 10⁻⁵ per cycle, Arrhenius E_a = 31.7 kJ/mol.</a:t>
            </a:r>
            <a:endParaRPr lang="en-US" sz="1600" dirty="0"/>
          </a:p>
          <a:p>
            <a:pPr indent="0" marL="0">
              <a:buNone/>
            </a:pPr>
            <a:r>
              <a:rPr lang="en-US" sz="1300" dirty="0">
                <a:solidFill>
                  <a:srgbClr val="2B3A47"/>
                </a:solidFill>
              </a:rPr>
              <a:t>Cell R 0.30 mΩ (AC); MC 0.30–0.90.</a:t>
            </a:r>
            <a:endParaRPr lang="en-US" sz="1600" dirty="0"/>
          </a:p>
        </p:txBody>
      </p:sp>
      <p:sp>
        <p:nvSpPr>
          <p:cNvPr id="8" name="card Converters + wiring"/>
          <p:cNvSpPr/>
          <p:nvPr/>
        </p:nvSpPr>
        <p:spPr>
          <a:xfrm>
            <a:off x="4297680" y="2606040"/>
            <a:ext cx="3566160" cy="2926080"/>
          </a:xfrm>
          <a:prstGeom prst="roundRect">
            <a:avLst>
              <a:gd name="adj" fmla="val 2500"/>
            </a:avLst>
          </a:prstGeom>
          <a:solidFill>
            <a:srgbClr val="EEF3F5"/>
          </a:solidFill>
          <a:ln w="12700">
            <a:solidFill>
              <a:srgbClr val="EEF3F5"/>
            </a:solidFill>
            <a:prstDash val="solid"/>
          </a:ln>
        </p:spPr>
      </p:sp>
      <p:sp>
        <p:nvSpPr>
          <p:cNvPr id="9" name="cardtext Converters + wiring"/>
          <p:cNvSpPr txBox="1"/>
          <p:nvPr/>
        </p:nvSpPr>
        <p:spPr>
          <a:xfrm>
            <a:off x="4462272" y="2734056"/>
            <a:ext cx="3236976" cy="267004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Converters + wiring</a:t>
            </a:r>
            <a:endParaRPr lang="en-US" sz="1600" dirty="0"/>
          </a:p>
          <a:p>
            <a:pPr indent="0" marL="0">
              <a:buNone/>
            </a:pPr>
            <a:r>
              <a:rPr lang="en-US" sz="1300" dirty="0">
                <a:solidFill>
                  <a:srgbClr val="2B3A47"/>
                </a:solidFill>
              </a:rPr>
              <a:t>Ex_dest = (1 − ν) P for the inverter and each PCS pass; wiring 2 % of module output.</a:t>
            </a:r>
            <a:endParaRPr lang="en-US" sz="1600" dirty="0"/>
          </a:p>
          <a:p>
            <a:pPr indent="0" marL="0">
              <a:buNone/>
            </a:pPr>
            <a:r>
              <a:rPr lang="en-US" sz="1300" dirty="0">
                <a:solidFill>
                  <a:srgbClr val="2B3A47"/>
                </a:solidFill>
              </a:rPr>
              <a:t>ψ = η for every electrical subsystem.</a:t>
            </a:r>
            <a:endParaRPr lang="en-US" sz="1600" dirty="0"/>
          </a:p>
          <a:p>
            <a:pPr indent="0" marL="0">
              <a:buNone/>
            </a:pPr>
            <a:r>
              <a:rPr lang="en-US" sz="1300" dirty="0">
                <a:solidFill>
                  <a:srgbClr val="2B3A47"/>
                </a:solidFill>
              </a:rPr>
              <a:t>AC→AC battery round trip ≈ 0.93.</a:t>
            </a:r>
            <a:endParaRPr lang="en-US" sz="1600" dirty="0"/>
          </a:p>
        </p:txBody>
      </p:sp>
      <p:sp>
        <p:nvSpPr>
          <p:cNvPr id="10" name="card Why series 1P104S"/>
          <p:cNvSpPr/>
          <p:nvPr/>
        </p:nvSpPr>
        <p:spPr>
          <a:xfrm>
            <a:off x="8046720" y="2606040"/>
            <a:ext cx="3566160" cy="2926080"/>
          </a:xfrm>
          <a:prstGeom prst="roundRect">
            <a:avLst>
              <a:gd name="adj" fmla="val 2500"/>
            </a:avLst>
          </a:prstGeom>
          <a:solidFill>
            <a:srgbClr val="EEF3F5"/>
          </a:solidFill>
          <a:ln w="12700">
            <a:solidFill>
              <a:srgbClr val="EEF3F5"/>
            </a:solidFill>
            <a:prstDash val="solid"/>
          </a:ln>
        </p:spPr>
      </p:sp>
      <p:sp>
        <p:nvSpPr>
          <p:cNvPr id="11" name="cardtext Why series 1P104S"/>
          <p:cNvSpPr txBox="1"/>
          <p:nvPr/>
        </p:nvSpPr>
        <p:spPr>
          <a:xfrm>
            <a:off x="8211312" y="2734056"/>
            <a:ext cx="3236976" cy="267004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Why series 1P104S</a:t>
            </a:r>
            <a:endParaRPr lang="en-US" sz="1600" dirty="0"/>
          </a:p>
          <a:p>
            <a:pPr indent="0" marL="0">
              <a:buNone/>
            </a:pPr>
            <a:r>
              <a:rPr lang="en-US" sz="1300" dirty="0">
                <a:solidFill>
                  <a:srgbClr val="2B3A47"/>
                </a:solidFill>
              </a:rPr>
              <a:t>Cell I²R = P²R_c/(N_s N_p V_c²): same for any layout with 104 cells.</a:t>
            </a:r>
            <a:endParaRPr lang="en-US" sz="1600" dirty="0"/>
          </a:p>
          <a:p>
            <a:pPr indent="0" marL="0">
              <a:buNone/>
            </a:pPr>
            <a:r>
              <a:rPr lang="en-US" sz="1300" dirty="0">
                <a:solidFill>
                  <a:srgbClr val="2B3A47"/>
                </a:solidFill>
              </a:rPr>
              <a:t>Series puts 333 V in the PCS window and halves cable current. 140 A = 0.5C rating.</a:t>
            </a:r>
            <a:endParaRPr lang="en-US" sz="1600" dirty="0"/>
          </a:p>
        </p:txBody>
      </p:sp>
      <p:sp>
        <p:nvSpPr>
          <p:cNvPr id="12" name="takeaway bg"/>
          <p:cNvSpPr/>
          <p:nvPr/>
        </p:nvSpPr>
        <p:spPr>
          <a:xfrm>
            <a:off x="548640" y="5760720"/>
            <a:ext cx="11064240" cy="502920"/>
          </a:xfrm>
          <a:prstGeom prst="roundRect">
            <a:avLst>
              <a:gd name="adj" fmla="val 10909"/>
            </a:avLst>
          </a:prstGeom>
          <a:solidFill>
            <a:srgbClr val="FBEBD3"/>
          </a:solidFill>
          <a:ln w="12700">
            <a:solidFill>
              <a:srgbClr val="FBEBD3"/>
            </a:solidFill>
            <a:prstDash val="solid"/>
          </a:ln>
        </p:spPr>
      </p:sp>
      <p:sp>
        <p:nvSpPr>
          <p:cNvPr id="13" name="takeaway"/>
          <p:cNvSpPr txBox="1"/>
          <p:nvPr/>
        </p:nvSpPr>
        <p:spPr>
          <a:xfrm>
            <a:off x="731520" y="5760720"/>
            <a:ext cx="10698480" cy="502920"/>
          </a:xfrm>
          <a:prstGeom prst="rect">
            <a:avLst/>
          </a:prstGeom>
          <a:noFill/>
          <a:ln/>
        </p:spPr>
        <p:txBody>
          <a:bodyPr wrap="square" lIns="0" tIns="0" rIns="0" bIns="0" rtlCol="0" anchor="ctr"/>
          <a:lstStyle/>
          <a:p>
            <a:pPr indent="0" marL="0">
              <a:buNone/>
            </a:pPr>
            <a:r>
              <a:rPr lang="en-US" sz="1500" b="1" dirty="0">
                <a:solidFill>
                  <a:srgbClr val="7A4A0E"/>
                </a:solidFill>
              </a:rPr>
              <a:t>Only the PV cell has ψ ≠ η, so "PV dominates destruction" is largely structural</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Validation: internal checks pass; one external check open</a:t>
            </a:r>
            <a:endParaRPr lang="en-US" sz="30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937760"/>
                <a:gridCol w="3291840"/>
                <a:gridCol w="2834640"/>
              </a:tblGrid>
              <a:tr h="402336">
                <a:tc>
                  <a:txBody>
                    <a:bodyPr/>
                    <a:lstStyle/>
                    <a:p>
                      <a:pPr indent="0" marL="0">
                        <a:buNone/>
                      </a:pPr>
                      <a:r>
                        <a:rPr lang="en-US" sz="1300" b="1" dirty="0">
                          <a:solidFill>
                            <a:srgbClr val="FFFFFF"/>
                          </a:solidFill>
                        </a:rPr>
                        <a:t>Check</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Result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Status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402336">
                <a:tc>
                  <a:txBody>
                    <a:bodyPr/>
                    <a:lstStyle/>
                    <a:p>
                      <a:pPr indent="0" marL="0">
                        <a:buNone/>
                      </a:pPr>
                      <a:r>
                        <a:rPr lang="en-US" sz="1300" dirty="0">
                          <a:solidFill>
                            <a:srgbClr val="22303C"/>
                          </a:solidFill>
                        </a:rPr>
                        <a:t>Hourly First-Law / exergy closure, 26,280 h × 3 cities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max 5.7 × 10⁻¹⁴ kWh</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Pass (asserted)</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22303C"/>
                          </a:solidFill>
                        </a:rPr>
                        <a:t>PV internal exergy destruction ≥ 0 every hour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min 0 (night)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Pass (asserted)</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02336">
                <a:tc>
                  <a:txBody>
                    <a:bodyPr/>
                    <a:lstStyle/>
                    <a:p>
                      <a:pPr indent="0" marL="0">
                        <a:buNone/>
                      </a:pPr>
                      <a:r>
                        <a:rPr lang="en-US" sz="1300" dirty="0">
                          <a:solidFill>
                            <a:srgbClr val="22303C"/>
                          </a:solidFill>
                        </a:rPr>
                        <a:t>Computed sun elevation vs PVGIS H_sun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mean −0.2°, max 1.2°</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Pass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22303C"/>
                          </a:solidFill>
                        </a:rPr>
                        <a:t>Cell-temperature model at NOCT test conditions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43.0 °C</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Pass (by construction)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02336">
                <a:tc>
                  <a:txBody>
                    <a:bodyPr/>
                    <a:lstStyle/>
                    <a:p>
                      <a:pPr indent="0" marL="0">
                        <a:buNone/>
                      </a:pPr>
                      <a:r>
                        <a:rPr lang="en-US" sz="1300" dirty="0">
                          <a:solidFill>
                            <a:srgbClr val="22303C"/>
                          </a:solidFill>
                        </a:rPr>
                        <a:t>Peak cell temperature, Jodhpur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67.1 °C</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55–70 °C field range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22303C"/>
                          </a:solidFill>
                        </a:rPr>
                        <a:t>Specific yield / performance ratio</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1,508–1,883 kWh/kWp / 0.86–0.87</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Indian range; PR high (no soiling)</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02336">
                <a:tc>
                  <a:txBody>
                    <a:bodyPr/>
                    <a:lstStyle/>
                    <a:p>
                      <a:pPr indent="0" marL="0">
                        <a:buNone/>
                      </a:pPr>
                      <a:r>
                        <a:rPr lang="en-US" sz="1300" dirty="0">
                          <a:solidFill>
                            <a:srgbClr val="22303C"/>
                          </a:solidFill>
                        </a:rPr>
                        <a:t>X(ε) table vs direct integration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4 decimals, ε = 1 … 10⁻⁷</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Pass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22303C"/>
                          </a:solidFill>
                        </a:rPr>
                        <a:t>Re-transposition at 20°; loss vs optimum tilt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reproduces POA; 0.4–0.9 %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Pass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02336">
                <a:tc>
                  <a:txBody>
                    <a:bodyPr/>
                    <a:lstStyle/>
                    <a:p>
                      <a:pPr indent="0" marL="0">
                        <a:buNone/>
                      </a:pPr>
                      <a:r>
                        <a:rPr lang="en-US" sz="1300" dirty="0">
                          <a:solidFill>
                            <a:srgbClr val="22303C"/>
                          </a:solidFill>
                        </a:rPr>
                        <a:t>ψ_PV vs literature 10–20 %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24.8–25.9 % (22.8–23.0 % all-Petela)</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Explained: 23 % module + diffuse split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22303C"/>
                          </a:solidFill>
                        </a:rPr>
                        <a:t>PVGIS PVcalc yield comparison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not run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Open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bl>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Results</a:t>
            </a:r>
            <a:endParaRPr lang="en-US" sz="4000" dirty="0"/>
          </a:p>
        </p:txBody>
      </p:sp>
      <p:sp>
        <p:nvSpPr>
          <p:cNvPr id="4" name="Text 0"/>
          <p:cNvSpPr/>
          <p:nvPr>
            <p:ph idx="101" type="body" hasCustomPrompt="1"/>
          </p:nvPr>
        </p:nvSpPr>
        <p:spPr>
          <a:xfrm>
            <a:off x="731520" y="3703320"/>
            <a:ext cx="10698480" cy="914400"/>
          </a:xfrm>
          <a:prstGeom prst="rect">
            <a:avLst/>
          </a:prstGeom>
          <a:noFill/>
          <a:ln/>
        </p:spPr>
        <p:txBody>
          <a:bodyPr wrap="square" lIns="0" tIns="0" rIns="0" bIns="0" rtlCol="0" anchor="t"/>
          <a:lstStyle/>
          <a:p>
            <a:pPr indent="0" marL="0">
              <a:buNone/>
            </a:pPr>
            <a:r>
              <a:rPr lang="en-US" sz="1800" dirty="0">
                <a:solidFill>
                  <a:srgbClr val="F4D58D"/>
                </a:solidFill>
              </a:rPr>
              <a:t>NASA POWER 2021–2023 mean · Monte Carlo 5–95 % ranges</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AB8C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Headline results</a:t>
            </a:r>
            <a:endParaRPr lang="en-US" sz="30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297680"/>
                <a:gridCol w="2240280"/>
                <a:gridCol w="2240280"/>
                <a:gridCol w="2286000"/>
              </a:tblGrid>
              <a:tr h="393192">
                <a:tc>
                  <a:txBody>
                    <a:bodyPr/>
                    <a:lstStyle/>
                    <a:p>
                      <a:pPr indent="0" marL="0">
                        <a:buNone/>
                      </a:pPr>
                      <a:r>
                        <a:rPr lang="en-US" sz="1300" b="1" dirty="0">
                          <a:solidFill>
                            <a:srgbClr val="FFFFFF"/>
                          </a:solidFill>
                        </a:rPr>
                        <a:t>3-year mean (Monte Carlo 5–95 %)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Jodhpur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Bengaluru</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Guwahati</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393192">
                <a:tc>
                  <a:txBody>
                    <a:bodyPr/>
                    <a:lstStyle/>
                    <a:p>
                      <a:pPr indent="0" marL="0">
                        <a:buNone/>
                      </a:pPr>
                      <a:r>
                        <a:rPr lang="en-US" sz="1300" b="1" dirty="0">
                          <a:solidFill>
                            <a:srgbClr val="22303C"/>
                          </a:solidFill>
                        </a:rPr>
                        <a:t>POA irradiation [kWh/m²/yr] · diffuse share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2,076 · 37 %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1,745 · 52 %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1,662 · 48 %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22303C"/>
                          </a:solidFill>
                        </a:rPr>
                        <a:t>Exergy content of sunlight Ex_in/E_in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0.839</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0.808</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0.814</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93192">
                <a:tc>
                  <a:txBody>
                    <a:bodyPr/>
                    <a:lstStyle/>
                    <a:p>
                      <a:pPr indent="0" marL="0">
                        <a:buNone/>
                      </a:pPr>
                      <a:r>
                        <a:rPr lang="en-US" sz="1300" b="1" dirty="0">
                          <a:solidFill>
                            <a:srgbClr val="22303C"/>
                          </a:solidFill>
                        </a:rPr>
                        <a:t>Energy-weighted / max cell temperature [°C]</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42.1 / 67.1</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36.1 / 57.8</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37.9 / 62.5</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22303C"/>
                          </a:solidFill>
                        </a:rPr>
                        <a:t>η_PV</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20.83 %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20.94 %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20.82 %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93192">
                <a:tc>
                  <a:txBody>
                    <a:bodyPr/>
                    <a:lstStyle/>
                    <a:p>
                      <a:pPr indent="0" marL="0">
                        <a:buNone/>
                      </a:pPr>
                      <a:r>
                        <a:rPr lang="en-US" sz="1300" b="1" dirty="0">
                          <a:solidFill>
                            <a:srgbClr val="22303C"/>
                          </a:solidFill>
                        </a:rPr>
                        <a:t>ψ_PV</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24.83 % (24.1–25.5)</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25.92 % (25.2–26.7)</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25.57 % (24.9–26.3)</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22303C"/>
                          </a:solidFill>
                        </a:rPr>
                        <a:t>Solar coverage (direct + via battery)</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79.7 % (49.8 + 29.9)</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74.3 % (48.5 + 25.7)</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70.4 % (45.0 + 25.4)</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93192">
                <a:tc>
                  <a:txBody>
                    <a:bodyPr/>
                    <a:lstStyle/>
                    <a:p>
                      <a:pPr indent="0" marL="0">
                        <a:buNone/>
                      </a:pPr>
                      <a:r>
                        <a:rPr lang="en-US" sz="1300" b="1" dirty="0">
                          <a:solidFill>
                            <a:srgbClr val="22303C"/>
                          </a:solidFill>
                        </a:rPr>
                        <a:t>Grid dependency · export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20.3 % · 22.5 MWh</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25.7 % · 13.4 MWh</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29.6 % · 12.7 MWh</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22303C"/>
                          </a:solidFill>
                        </a:rPr>
                        <a:t>PV share of exergy destroyed</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97.8 %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97.7 %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97.7 %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93192">
                <a:tc>
                  <a:txBody>
                    <a:bodyPr/>
                    <a:lstStyle/>
                    <a:p>
                      <a:pPr indent="0" marL="0">
                        <a:buNone/>
                      </a:pPr>
                      <a:r>
                        <a:rPr lang="en-US" sz="1300" b="1" dirty="0">
                          <a:solidFill>
                            <a:srgbClr val="22303C"/>
                          </a:solidFill>
                        </a:rPr>
                        <a:t>LCOE PV / PV + battery vs tariff [INR/kWh]</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3.48 / 7.14 vs 6.00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4.12 / 8.45 vs 4.50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4.34 / 8.92 vs 8.72</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22303C"/>
                          </a:solidFill>
                        </a:rPr>
                        <a:t>NPV PV / PV + battery [lakh INR]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+8.0 / −17.0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−2.5 / −31.8</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+11.6 / −8.8</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93192">
                <a:tc>
                  <a:txBody>
                    <a:bodyPr/>
                    <a:lstStyle/>
                    <a:p>
                      <a:pPr indent="0" marL="0">
                        <a:buNone/>
                      </a:pPr>
                      <a:r>
                        <a:rPr lang="en-US" sz="1300" b="1" dirty="0">
                          <a:solidFill>
                            <a:srgbClr val="22303C"/>
                          </a:solidFill>
                        </a:rPr>
                        <a:t>CO₂ avoided [t/yr]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61.8</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52.2</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49.5</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Monsoon: energy efficiency falls, exergy efficiency rises</a:t>
            </a:r>
            <a:endParaRPr lang="en-US" sz="3000" dirty="0"/>
          </a:p>
        </p:txBody>
      </p:sp>
      <p:pic>
        <p:nvPicPr>
          <p:cNvPr id="4" name="fig fig02_monthly_eta_psi.png" descr="Monthly eta and psi">    </p:cNvPr>
          <p:cNvPicPr>
            <a:picLocks noChangeAspect="1"/>
          </p:cNvPicPr>
          <p:nvPr/>
        </p:nvPicPr>
        <p:blipFill>
          <a:blip r:embed="rId1"/>
          <a:stretch>
            <a:fillRect/>
          </a:stretch>
        </p:blipFill>
        <p:spPr>
          <a:xfrm>
            <a:off x="548640" y="1280160"/>
            <a:ext cx="6949440" cy="2637913"/>
          </a:xfrm>
          <a:prstGeom prst="rect">
            <a:avLst/>
          </a:prstGeom>
        </p:spPr>
      </p:pic>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7635240" y="1325880"/>
          <a:ext cx="4023360" cy="914400"/>
        </p:xfrm>
        <a:graphic>
          <a:graphicData uri="http://schemas.openxmlformats.org/drawingml/2006/table">
            <a:tbl>
              <a:tblPr/>
              <a:tblGrid>
                <a:gridCol w="1463040"/>
                <a:gridCol w="685800"/>
                <a:gridCol w="640080"/>
                <a:gridCol w="594360"/>
                <a:gridCol w="640080"/>
              </a:tblGrid>
              <a:tr h="384048">
                <a:tc>
                  <a:txBody>
                    <a:bodyPr/>
                    <a:lstStyle/>
                    <a:p>
                      <a:pPr indent="0" marL="0">
                        <a:buNone/>
                      </a:pPr>
                      <a:r>
                        <a:rPr lang="en-US" sz="1200" b="1" dirty="0">
                          <a:solidFill>
                            <a:srgbClr val="FFFFFF"/>
                          </a:solidFill>
                        </a:rPr>
                        <a:t>Season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Diffuse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Ex/E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η_PV</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ψ_PV</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384048">
                <a:tc>
                  <a:txBody>
                    <a:bodyPr/>
                    <a:lstStyle/>
                    <a:p>
                      <a:pPr indent="0" marL="0">
                        <a:buNone/>
                      </a:pPr>
                      <a:r>
                        <a:rPr lang="en-US" sz="1200" dirty="0">
                          <a:solidFill>
                            <a:srgbClr val="22303C"/>
                          </a:solidFill>
                        </a:rPr>
                        <a:t>Jodhpur winter</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27 %</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0.866</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21.33</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24.64</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2303C"/>
                          </a:solidFill>
                        </a:rPr>
                        <a:t>Jodhpur monsoon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49 %</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0.809</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20.58</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25.45</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84048">
                <a:tc>
                  <a:txBody>
                    <a:bodyPr/>
                    <a:lstStyle/>
                    <a:p>
                      <a:pPr indent="0" marL="0">
                        <a:buNone/>
                      </a:pPr>
                      <a:r>
                        <a:rPr lang="en-US" sz="1200" dirty="0">
                          <a:solidFill>
                            <a:srgbClr val="22303C"/>
                          </a:solidFill>
                        </a:rPr>
                        <a:t>Bengaluru winter</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38 %</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0.840</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21.21</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25.26</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2303C"/>
                          </a:solidFill>
                        </a:rPr>
                        <a:t>Bengaluru monsoon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67 %</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0.773</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20.81</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26.94</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84048">
                <a:tc>
                  <a:txBody>
                    <a:bodyPr/>
                    <a:lstStyle/>
                    <a:p>
                      <a:pPr indent="0" marL="0">
                        <a:buNone/>
                      </a:pPr>
                      <a:r>
                        <a:rPr lang="en-US" sz="1200" dirty="0">
                          <a:solidFill>
                            <a:srgbClr val="22303C"/>
                          </a:solidFill>
                        </a:rPr>
                        <a:t>Guwahati winter</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36 %</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0.845</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21.30</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25.21</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2303C"/>
                          </a:solidFill>
                        </a:rPr>
                        <a:t>Guwahati monsoon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63 %</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0.779</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20.40</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26.17</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bl>
          </a:graphicData>
        </a:graphic>
      </p:graphicFrame>
      <p:sp>
        <p:nvSpPr>
          <p:cNvPr id="6" name="body"/>
          <p:cNvSpPr txBox="1"/>
          <p:nvPr/>
        </p:nvSpPr>
        <p:spPr>
          <a:xfrm>
            <a:off x="548640" y="4526280"/>
            <a:ext cx="11064240" cy="1188720"/>
          </a:xfrm>
          <a:prstGeom prst="rect">
            <a:avLst/>
          </a:prstGeom>
          <a:noFill/>
          <a:ln/>
        </p:spPr>
        <p:txBody>
          <a:bodyPr wrap="square" lIns="0" tIns="0" rIns="0" bIns="0" rtlCol="0" anchor="t"/>
          <a:lstStyle/>
          <a:p>
            <a:pPr marL="203200" indent="-203200">
              <a:buSzPct val="100000"/>
              <a:buChar char="•"/>
            </a:pPr>
            <a:r>
              <a:rPr lang="en-US" sz="1500" b="1" dirty="0">
                <a:solidFill>
                  <a:srgbClr val="18232F"/>
                </a:solidFill>
              </a:rPr>
              <a:t>Why: </a:t>
            </a:r>
            <a:pPr indent="0" marL="0">
              <a:spcAft>
                <a:spcPts val="800"/>
              </a:spcAft>
              <a:buNone/>
            </a:pPr>
            <a:r>
              <a:rPr lang="en-US" sz="1500" dirty="0">
                <a:solidFill>
                  <a:srgbClr val="2B3A47"/>
                </a:solidFill>
              </a:rPr>
              <a:t>exergy per kWh of light falls 7–8 %, electricity per kWh falls only 2–4 %. By ψ = η/(Ex/E), ψ must rise.</a:t>
            </a:r>
            <a:endParaRPr lang="en-US" sz="1500" dirty="0"/>
          </a:p>
          <a:p>
            <a:pPr marL="203200" indent="-203200">
              <a:buSzPct val="100000"/>
              <a:buChar char="•"/>
            </a:pPr>
            <a:r>
              <a:rPr lang="en-US" sz="1500" b="1" dirty="0">
                <a:solidFill>
                  <a:srgbClr val="18232F"/>
                </a:solidFill>
              </a:rPr>
              <a:t>Meaning: </a:t>
            </a:r>
            <a:pPr indent="0" marL="0">
              <a:spcAft>
                <a:spcPts val="800"/>
              </a:spcAft>
              <a:buNone/>
            </a:pPr>
            <a:r>
              <a:rPr lang="en-US" sz="1500" dirty="0">
                <a:solidFill>
                  <a:srgbClr val="2B3A47"/>
                </a:solidFill>
              </a:rPr>
              <a:t>the cell wastes a smaller share of a smaller, lower-grade input. It is not better performance, and it is not a bug.</a:t>
            </a:r>
            <a:endParaRPr lang="en-US" sz="1500" dirty="0"/>
          </a:p>
        </p:txBody>
      </p:sp>
      <p:sp>
        <p:nvSpPr>
          <p:cNvPr id="7" name="takeaway bg"/>
          <p:cNvSpPr/>
          <p:nvPr/>
        </p:nvSpPr>
        <p:spPr>
          <a:xfrm>
            <a:off x="548640" y="5760720"/>
            <a:ext cx="11064240" cy="502920"/>
          </a:xfrm>
          <a:prstGeom prst="roundRect">
            <a:avLst>
              <a:gd name="adj" fmla="val 10909"/>
            </a:avLst>
          </a:prstGeom>
          <a:solidFill>
            <a:srgbClr val="FBEBD3"/>
          </a:solidFill>
          <a:ln w="12700">
            <a:solidFill>
              <a:srgbClr val="FBEBD3"/>
            </a:solidFill>
            <a:prstDash val="solid"/>
          </a:ln>
        </p:spPr>
      </p:sp>
      <p:sp>
        <p:nvSpPr>
          <p:cNvPr id="8" name="takeaway"/>
          <p:cNvSpPr txBox="1"/>
          <p:nvPr/>
        </p:nvSpPr>
        <p:spPr>
          <a:xfrm>
            <a:off x="731520" y="5760720"/>
            <a:ext cx="10698480" cy="502920"/>
          </a:xfrm>
          <a:prstGeom prst="rect">
            <a:avLst/>
          </a:prstGeom>
          <a:noFill/>
          <a:ln/>
        </p:spPr>
        <p:txBody>
          <a:bodyPr wrap="square" lIns="0" tIns="0" rIns="0" bIns="0" rtlCol="0" anchor="ctr"/>
          <a:lstStyle/>
          <a:p>
            <a:pPr indent="0" marL="0">
              <a:buNone/>
            </a:pPr>
            <a:r>
              <a:rPr lang="en-US" sz="1500" b="1" dirty="0">
                <a:solidFill>
                  <a:srgbClr val="7A4A0E"/>
                </a:solidFill>
              </a:rPr>
              <a:t>Only the Second Law sees this: energy analysis just says cloudy hours produce less</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Hour by hour, ψ_PV tracks the diffuse share</a:t>
            </a:r>
            <a:endParaRPr lang="en-US" sz="3000" dirty="0"/>
          </a:p>
        </p:txBody>
      </p:sp>
      <p:pic>
        <p:nvPicPr>
          <p:cNvPr id="4" name="fig fig10_psi_vs_diffuse.png" descr="Hourly psi vs diffuse share">    </p:cNvPr>
          <p:cNvPicPr>
            <a:picLocks noChangeAspect="1"/>
          </p:cNvPicPr>
          <p:nvPr/>
        </p:nvPicPr>
        <p:blipFill>
          <a:blip r:embed="rId1"/>
          <a:stretch>
            <a:fillRect/>
          </a:stretch>
        </p:blipFill>
        <p:spPr>
          <a:xfrm>
            <a:off x="548640" y="1280160"/>
            <a:ext cx="6400800" cy="4333803"/>
          </a:xfrm>
          <a:prstGeom prst="rect">
            <a:avLst/>
          </a:prstGeom>
        </p:spPr>
      </p:pic>
      <p:sp>
        <p:nvSpPr>
          <p:cNvPr id="5" name="card Clear sky (15–20 % diffuse)"/>
          <p:cNvSpPr/>
          <p:nvPr/>
        </p:nvSpPr>
        <p:spPr>
          <a:xfrm>
            <a:off x="7223760" y="1371600"/>
            <a:ext cx="4389120" cy="1371600"/>
          </a:xfrm>
          <a:prstGeom prst="roundRect">
            <a:avLst>
              <a:gd name="adj" fmla="val 5333"/>
            </a:avLst>
          </a:prstGeom>
          <a:solidFill>
            <a:srgbClr val="FBEBD3"/>
          </a:solidFill>
          <a:ln w="12700">
            <a:solidFill>
              <a:srgbClr val="FBEBD3"/>
            </a:solidFill>
            <a:prstDash val="solid"/>
          </a:ln>
        </p:spPr>
      </p:sp>
      <p:sp>
        <p:nvSpPr>
          <p:cNvPr id="6" name="cardtext Clear sky (15–20 % diffuse)"/>
          <p:cNvSpPr txBox="1"/>
          <p:nvPr/>
        </p:nvSpPr>
        <p:spPr>
          <a:xfrm>
            <a:off x="7388352" y="1499616"/>
            <a:ext cx="4059936" cy="111556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Clear sky (15–20 % diffuse)</a:t>
            </a:r>
            <a:endParaRPr lang="en-US" sz="1600" dirty="0"/>
          </a:p>
          <a:p>
            <a:pPr indent="0" marL="0">
              <a:buNone/>
            </a:pPr>
            <a:r>
              <a:rPr lang="en-US" sz="1400" dirty="0">
                <a:solidFill>
                  <a:srgbClr val="2B3A47"/>
                </a:solidFill>
              </a:rPr>
              <a:t>ψ_PV ≈ 24 %: beam-rich light worth 0.93 per joule</a:t>
            </a:r>
            <a:endParaRPr lang="en-US" sz="1600" dirty="0"/>
          </a:p>
        </p:txBody>
      </p:sp>
      <p:sp>
        <p:nvSpPr>
          <p:cNvPr id="7" name="card Full overcast"/>
          <p:cNvSpPr/>
          <p:nvPr/>
        </p:nvSpPr>
        <p:spPr>
          <a:xfrm>
            <a:off x="7223760" y="2926080"/>
            <a:ext cx="4389120" cy="1371600"/>
          </a:xfrm>
          <a:prstGeom prst="roundRect">
            <a:avLst>
              <a:gd name="adj" fmla="val 5333"/>
            </a:avLst>
          </a:prstGeom>
          <a:solidFill>
            <a:srgbClr val="DCEFEC"/>
          </a:solidFill>
          <a:ln w="12700">
            <a:solidFill>
              <a:srgbClr val="DCEFEC"/>
            </a:solidFill>
            <a:prstDash val="solid"/>
          </a:ln>
        </p:spPr>
      </p:sp>
      <p:sp>
        <p:nvSpPr>
          <p:cNvPr id="8" name="cardtext Full overcast"/>
          <p:cNvSpPr txBox="1"/>
          <p:nvPr/>
        </p:nvSpPr>
        <p:spPr>
          <a:xfrm>
            <a:off x="7388352" y="3054096"/>
            <a:ext cx="4059936" cy="111556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Full overcast</a:t>
            </a:r>
            <a:endParaRPr lang="en-US" sz="1600" dirty="0"/>
          </a:p>
          <a:p>
            <a:pPr indent="0" marL="0">
              <a:buNone/>
            </a:pPr>
            <a:r>
              <a:rPr lang="en-US" sz="1400" dirty="0">
                <a:solidFill>
                  <a:srgbClr val="2B3A47"/>
                </a:solidFill>
              </a:rPr>
              <a:t>ψ_PV ≈ 29 %: diffuse light worth 0.67–0.80 per joule</a:t>
            </a:r>
            <a:endParaRPr lang="en-US" sz="1600" dirty="0"/>
          </a:p>
        </p:txBody>
      </p:sp>
      <p:sp>
        <p:nvSpPr>
          <p:cNvPr id="9" name="card City ranking follows diffuse share"/>
          <p:cNvSpPr/>
          <p:nvPr/>
        </p:nvSpPr>
        <p:spPr>
          <a:xfrm>
            <a:off x="7223760" y="4480560"/>
            <a:ext cx="4389120" cy="1371600"/>
          </a:xfrm>
          <a:prstGeom prst="roundRect">
            <a:avLst>
              <a:gd name="adj" fmla="val 5333"/>
            </a:avLst>
          </a:prstGeom>
          <a:solidFill>
            <a:srgbClr val="EEF3F5"/>
          </a:solidFill>
          <a:ln w="12700">
            <a:solidFill>
              <a:srgbClr val="EEF3F5"/>
            </a:solidFill>
            <a:prstDash val="solid"/>
          </a:ln>
        </p:spPr>
      </p:sp>
      <p:sp>
        <p:nvSpPr>
          <p:cNvPr id="10" name="cardtext City ranking follows diffuse share"/>
          <p:cNvSpPr txBox="1"/>
          <p:nvPr/>
        </p:nvSpPr>
        <p:spPr>
          <a:xfrm>
            <a:off x="7388352" y="4608576"/>
            <a:ext cx="4059936" cy="111556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City ranking follows diffuse share</a:t>
            </a:r>
            <a:endParaRPr lang="en-US" sz="1600" dirty="0"/>
          </a:p>
          <a:p>
            <a:pPr indent="0" marL="0">
              <a:buNone/>
            </a:pPr>
            <a:r>
              <a:rPr lang="en-US" sz="1400" dirty="0">
                <a:solidFill>
                  <a:srgbClr val="2B3A47"/>
                </a:solidFill>
              </a:rPr>
              <a:t>Bengaluru 25.92 % (52 %) &gt; Guwahati 25.57 % (48 %) &gt; Jodhpur 24.83 % (37 %, hottest cells)</a:t>
            </a:r>
            <a:endParaRPr lang="en-US" sz="1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What each model change did</a:t>
            </a:r>
            <a:endParaRPr lang="en-US" sz="300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297680"/>
                <a:gridCol w="1645920"/>
                <a:gridCol w="1645920"/>
                <a:gridCol w="1645920"/>
                <a:gridCol w="1828800"/>
              </a:tblGrid>
              <a:tr h="502920">
                <a:tc>
                  <a:txBody>
                    <a:bodyPr/>
                    <a:lstStyle/>
                    <a:p>
                      <a:pPr indent="0" marL="0">
                        <a:buNone/>
                      </a:pPr>
                      <a:r>
                        <a:rPr lang="en-US" sz="1400" b="1" dirty="0">
                          <a:solidFill>
                            <a:srgbClr val="FFFFFF"/>
                          </a:solidFill>
                        </a:rPr>
                        <a:t>Annual ψ_PV [%]</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400" b="1" dirty="0">
                          <a:solidFill>
                            <a:srgbClr val="FFFFFF"/>
                          </a:solidFill>
                        </a:rPr>
                        <a:t>Jodhpur</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400" b="1" dirty="0">
                          <a:solidFill>
                            <a:srgbClr val="FFFFFF"/>
                          </a:solidFill>
                        </a:rPr>
                        <a:t>Bengaluru</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400" b="1" dirty="0">
                          <a:solidFill>
                            <a:srgbClr val="FFFFFF"/>
                          </a:solidFill>
                        </a:rPr>
                        <a:t>Guwahati</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400" b="1" dirty="0">
                          <a:solidFill>
                            <a:srgbClr val="FFFFFF"/>
                          </a:solidFill>
                        </a:rPr>
                        <a:t>City spread</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502920">
                <a:tc>
                  <a:txBody>
                    <a:bodyPr/>
                    <a:lstStyle/>
                    <a:p>
                      <a:pPr indent="0" marL="0">
                        <a:buNone/>
                      </a:pPr>
                      <a:r>
                        <a:rPr lang="en-US" sz="1400" dirty="0">
                          <a:solidFill>
                            <a:srgbClr val="22303C"/>
                          </a:solidFill>
                        </a:rPr>
                        <a:t>Checkpoint 2 (Petela for all light, no low-light)</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22303C"/>
                          </a:solidFill>
                        </a:rPr>
                        <a:t>22.75</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22303C"/>
                          </a:solidFill>
                        </a:rPr>
                        <a:t>23.03</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22303C"/>
                          </a:solidFill>
                        </a:rPr>
                        <a:t>22.94</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22303C"/>
                          </a:solidFill>
                        </a:rPr>
                        <a:t>0.3 pt</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2303C"/>
                          </a:solidFill>
                        </a:rPr>
                        <a:t>+ split beam / diffuse exergy only</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400" dirty="0">
                          <a:solidFill>
                            <a:srgbClr val="22303C"/>
                          </a:solidFill>
                        </a:rPr>
                        <a:t>25.22</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400" dirty="0">
                          <a:solidFill>
                            <a:srgbClr val="22303C"/>
                          </a:solidFill>
                        </a:rPr>
                        <a:t>26.52</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400" dirty="0">
                          <a:solidFill>
                            <a:srgbClr val="22303C"/>
                          </a:solidFill>
                        </a:rPr>
                        <a:t>26.21</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400" dirty="0">
                          <a:solidFill>
                            <a:srgbClr val="22303C"/>
                          </a:solidFill>
                        </a:rPr>
                        <a:t>1.3 pt</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502920">
                <a:tc>
                  <a:txBody>
                    <a:bodyPr/>
                    <a:lstStyle/>
                    <a:p>
                      <a:pPr indent="0" marL="0">
                        <a:buNone/>
                      </a:pPr>
                      <a:r>
                        <a:rPr lang="en-US" sz="1400" dirty="0">
                          <a:solidFill>
                            <a:srgbClr val="22303C"/>
                          </a:solidFill>
                        </a:rPr>
                        <a:t>+ low-light efficiency only</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22303C"/>
                          </a:solidFill>
                        </a:rPr>
                        <a:t>22.40</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22303C"/>
                          </a:solidFill>
                        </a:rPr>
                        <a:t>22.50</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22303C"/>
                          </a:solidFill>
                        </a:rPr>
                        <a:t>22.38</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22303C"/>
                          </a:solidFill>
                        </a:rPr>
                        <a:t>0.1 pt</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22303C"/>
                          </a:solidFill>
                        </a:rPr>
                        <a:t>Final (both)</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400" b="1" dirty="0">
                          <a:solidFill>
                            <a:srgbClr val="22303C"/>
                          </a:solidFill>
                        </a:rPr>
                        <a:t>24.83</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400" b="1" dirty="0">
                          <a:solidFill>
                            <a:srgbClr val="22303C"/>
                          </a:solidFill>
                        </a:rPr>
                        <a:t>25.92</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400" b="1" dirty="0">
                          <a:solidFill>
                            <a:srgbClr val="22303C"/>
                          </a:solidFill>
                        </a:rPr>
                        <a:t>25.57</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400" b="1" dirty="0">
                          <a:solidFill>
                            <a:srgbClr val="22303C"/>
                          </a:solidFill>
                        </a:rPr>
                        <a:t>1.1 pt</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502920">
                <a:tc>
                  <a:txBody>
                    <a:bodyPr/>
                    <a:lstStyle/>
                    <a:p>
                      <a:pPr indent="0" marL="0">
                        <a:buNone/>
                      </a:pPr>
                      <a:r>
                        <a:rPr lang="en-US" sz="1400" dirty="0">
                          <a:solidFill>
                            <a:srgbClr val="22303C"/>
                          </a:solidFill>
                        </a:rPr>
                        <a:t>Specific yield, CP2 → final [kWh/kWp]</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22303C"/>
                          </a:solidFill>
                        </a:rPr>
                        <a:t>1,913 → 1,883</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22303C"/>
                          </a:solidFill>
                        </a:rPr>
                        <a:t>1,629 → 1,591</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22303C"/>
                          </a:solidFill>
                        </a:rPr>
                        <a:t>1,546 → 1,508</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22303C"/>
                          </a:solidFill>
                        </a:rPr>
                        <a:t>−1.5 to −2.4 %</a:t>
                      </a:r>
                      <a:endParaRPr lang="en-US" sz="14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bl>
          </a:graphicData>
        </a:graphic>
      </p:graphicFrame>
      <p:sp>
        <p:nvSpPr>
          <p:cNvPr id="5" name="card Why both matter"/>
          <p:cNvSpPr/>
          <p:nvPr/>
        </p:nvSpPr>
        <p:spPr>
          <a:xfrm>
            <a:off x="548640" y="4572000"/>
            <a:ext cx="5394960" cy="1097280"/>
          </a:xfrm>
          <a:prstGeom prst="roundRect">
            <a:avLst>
              <a:gd name="adj" fmla="val 6667"/>
            </a:avLst>
          </a:prstGeom>
          <a:solidFill>
            <a:srgbClr val="EEF3F5"/>
          </a:solidFill>
          <a:ln w="12700">
            <a:solidFill>
              <a:srgbClr val="EEF3F5"/>
            </a:solidFill>
            <a:prstDash val="solid"/>
          </a:ln>
        </p:spPr>
      </p:sp>
      <p:sp>
        <p:nvSpPr>
          <p:cNvPr id="6" name="cardtext Why both matter"/>
          <p:cNvSpPr txBox="1"/>
          <p:nvPr/>
        </p:nvSpPr>
        <p:spPr>
          <a:xfrm>
            <a:off x="713232" y="4700016"/>
            <a:ext cx="5065776" cy="84124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Why both matter</a:t>
            </a:r>
            <a:endParaRPr lang="en-US" sz="1600" dirty="0"/>
          </a:p>
          <a:p>
            <a:pPr indent="0" marL="0">
              <a:buNone/>
            </a:pPr>
            <a:r>
              <a:rPr lang="en-US" sz="1400" dirty="0">
                <a:solidFill>
                  <a:srgbClr val="2B3A47"/>
                </a:solidFill>
              </a:rPr>
              <a:t>The split changes the exergy result; the low-light term changes the energy result.</a:t>
            </a:r>
            <a:endParaRPr lang="en-US" sz="1600" dirty="0"/>
          </a:p>
        </p:txBody>
      </p:sp>
      <p:sp>
        <p:nvSpPr>
          <p:cNvPr id="7" name="card Correction to Checkpoint 2"/>
          <p:cNvSpPr/>
          <p:nvPr/>
        </p:nvSpPr>
        <p:spPr>
          <a:xfrm>
            <a:off x="6217920" y="4572000"/>
            <a:ext cx="5394960" cy="1097280"/>
          </a:xfrm>
          <a:prstGeom prst="roundRect">
            <a:avLst>
              <a:gd name="adj" fmla="val 6667"/>
            </a:avLst>
          </a:prstGeom>
          <a:solidFill>
            <a:srgbClr val="FBEBD3"/>
          </a:solidFill>
          <a:ln w="12700">
            <a:solidFill>
              <a:srgbClr val="FBEBD3"/>
            </a:solidFill>
            <a:prstDash val="solid"/>
          </a:ln>
        </p:spPr>
      </p:sp>
      <p:sp>
        <p:nvSpPr>
          <p:cNvPr id="8" name="cardtext Correction to Checkpoint 2"/>
          <p:cNvSpPr txBox="1"/>
          <p:nvPr/>
        </p:nvSpPr>
        <p:spPr>
          <a:xfrm>
            <a:off x="6382512" y="4700016"/>
            <a:ext cx="5065776" cy="84124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Correction to Checkpoint 2</a:t>
            </a:r>
            <a:endParaRPr lang="en-US" sz="1600" dirty="0"/>
          </a:p>
          <a:p>
            <a:pPr indent="0" marL="0">
              <a:buNone/>
            </a:pPr>
            <a:r>
              <a:rPr lang="en-US" sz="1400" dirty="0">
                <a:solidFill>
                  <a:srgbClr val="2B3A47"/>
                </a:solidFill>
              </a:rPr>
              <a:t>"Climate does not affect conversion quality" was an artefact of the old model.</a:t>
            </a:r>
            <a:endParaRPr lang="en-US" sz="1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Where the exergy goes: about 98 % is destroyed in the PV cell</a:t>
            </a:r>
            <a:endParaRPr lang="en-US" sz="3000" dirty="0"/>
          </a:p>
        </p:txBody>
      </p:sp>
      <p:pic>
        <p:nvPicPr>
          <p:cNvPr id="4" name="fig fig05_exergy_fate.png" descr="Fate of solar exergy">    </p:cNvPr>
          <p:cNvPicPr>
            <a:picLocks noChangeAspect="1"/>
          </p:cNvPicPr>
          <p:nvPr/>
        </p:nvPicPr>
        <p:blipFill>
          <a:blip r:embed="rId1"/>
          <a:stretch>
            <a:fillRect/>
          </a:stretch>
        </p:blipFill>
        <p:spPr>
          <a:xfrm>
            <a:off x="548640" y="1280160"/>
            <a:ext cx="5760720" cy="2071400"/>
          </a:xfrm>
          <a:prstGeom prst="rect">
            <a:avLst/>
          </a:prstGeom>
        </p:spPr>
      </p:pic>
      <p:pic>
        <p:nvPicPr>
          <p:cNvPr id="5" name="fig fig06_exergy_destruction.png" descr="Destruction by subsystem">    </p:cNvPr>
          <p:cNvPicPr>
            <a:picLocks noChangeAspect="1"/>
          </p:cNvPicPr>
          <p:nvPr/>
        </p:nvPicPr>
        <p:blipFill>
          <a:blip r:embed="rId2"/>
          <a:stretch>
            <a:fillRect/>
          </a:stretch>
        </p:blipFill>
        <p:spPr>
          <a:xfrm>
            <a:off x="6400800" y="1280160"/>
            <a:ext cx="5212080" cy="2082746"/>
          </a:xfrm>
          <a:prstGeom prst="rect">
            <a:avLst/>
          </a:prstGeom>
        </p:spPr>
      </p:pic>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548640" y="4114800"/>
          <a:ext cx="11064240" cy="914400"/>
        </p:xfrm>
        <a:graphic>
          <a:graphicData uri="http://schemas.openxmlformats.org/drawingml/2006/table">
            <a:tbl>
              <a:tblPr/>
              <a:tblGrid>
                <a:gridCol w="1371600"/>
                <a:gridCol w="1463040"/>
                <a:gridCol w="1371600"/>
                <a:gridCol w="1280160"/>
                <a:gridCol w="1371600"/>
                <a:gridCol w="1371600"/>
                <a:gridCol w="1280160"/>
                <a:gridCol w="1554480"/>
              </a:tblGrid>
              <a:tr h="347472">
                <a:tc>
                  <a:txBody>
                    <a:bodyPr/>
                    <a:lstStyle/>
                    <a:p>
                      <a:pPr indent="0" marL="0">
                        <a:buNone/>
                      </a:pPr>
                      <a:r>
                        <a:rPr lang="en-US" sz="1300" b="1" dirty="0">
                          <a:solidFill>
                            <a:srgbClr val="FFFFFF"/>
                          </a:solidFill>
                        </a:rPr>
                        <a:t>kWh/yr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PV internal</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PV optical</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PV heat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Inverter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Wiring</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PCS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Battery I²R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347472">
                <a:tc>
                  <a:txBody>
                    <a:bodyPr/>
                    <a:lstStyle/>
                    <a:p>
                      <a:pPr indent="0" marL="0">
                        <a:buNone/>
                      </a:pPr>
                      <a:r>
                        <a:rPr lang="en-US" sz="1300" dirty="0">
                          <a:solidFill>
                            <a:srgbClr val="22303C"/>
                          </a:solidFill>
                        </a:rPr>
                        <a:t>Jodhpur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226,411</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47,103</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9,325</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2,746</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1,868</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1,527</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209</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22303C"/>
                          </a:solidFill>
                        </a:rPr>
                        <a:t>Bengaluru</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179,819</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39,589</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6,224</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2,321</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1,579</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1,314</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164</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47472">
                <a:tc>
                  <a:txBody>
                    <a:bodyPr/>
                    <a:lstStyle/>
                    <a:p>
                      <a:pPr indent="0" marL="0">
                        <a:buNone/>
                      </a:pPr>
                      <a:r>
                        <a:rPr lang="en-US" sz="1300" dirty="0">
                          <a:solidFill>
                            <a:srgbClr val="22303C"/>
                          </a:solidFill>
                        </a:rPr>
                        <a:t>Guwahati</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172,515</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37,620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7,650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2,199</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1,496</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1,296</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162</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bl>
          </a:graphicData>
        </a:graphic>
      </p:graphicFrame>
      <p:sp>
        <p:nvSpPr>
          <p:cNvPr id="7" name="takeaway bg"/>
          <p:cNvSpPr/>
          <p:nvPr/>
        </p:nvSpPr>
        <p:spPr>
          <a:xfrm>
            <a:off x="548640" y="5760720"/>
            <a:ext cx="11064240" cy="502920"/>
          </a:xfrm>
          <a:prstGeom prst="roundRect">
            <a:avLst>
              <a:gd name="adj" fmla="val 10909"/>
            </a:avLst>
          </a:prstGeom>
          <a:solidFill>
            <a:srgbClr val="FBEBD3"/>
          </a:solidFill>
          <a:ln w="12700">
            <a:solidFill>
              <a:srgbClr val="FBEBD3"/>
            </a:solidFill>
            <a:prstDash val="solid"/>
          </a:ln>
        </p:spPr>
      </p:sp>
      <p:sp>
        <p:nvSpPr>
          <p:cNvPr id="8" name="takeaway"/>
          <p:cNvSpPr txBox="1"/>
          <p:nvPr/>
        </p:nvSpPr>
        <p:spPr>
          <a:xfrm>
            <a:off x="731520" y="5760720"/>
            <a:ext cx="10698480" cy="502920"/>
          </a:xfrm>
          <a:prstGeom prst="rect">
            <a:avLst/>
          </a:prstGeom>
          <a:noFill/>
          <a:ln/>
        </p:spPr>
        <p:txBody>
          <a:bodyPr wrap="square" lIns="0" tIns="0" rIns="0" bIns="0" rtlCol="0" anchor="ctr"/>
          <a:lstStyle/>
          <a:p>
            <a:pPr indent="0" marL="0">
              <a:buNone/>
            </a:pPr>
            <a:r>
              <a:rPr lang="en-US" sz="1500" b="1" dirty="0">
                <a:solidFill>
                  <a:srgbClr val="7A4A0E"/>
                </a:solidFill>
              </a:rPr>
              <a:t>Rejected heat is only 3 % of PV loss (7–19 K above T₀): cooling helps through β, not heat recovery</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The hypothesis holds, but the informative part is inside the cell</a:t>
            </a:r>
            <a:endParaRPr lang="en-US" sz="3000" dirty="0"/>
          </a:p>
        </p:txBody>
      </p:sp>
      <p:sp>
        <p:nvSpPr>
          <p:cNvPr id="4" name="card Structural, not surprising"/>
          <p:cNvSpPr/>
          <p:nvPr/>
        </p:nvSpPr>
        <p:spPr>
          <a:xfrm>
            <a:off x="548640" y="1371600"/>
            <a:ext cx="3566160" cy="2103120"/>
          </a:xfrm>
          <a:prstGeom prst="roundRect">
            <a:avLst>
              <a:gd name="adj" fmla="val 3478"/>
            </a:avLst>
          </a:prstGeom>
          <a:solidFill>
            <a:srgbClr val="EEF3F5"/>
          </a:solidFill>
          <a:ln w="12700">
            <a:solidFill>
              <a:srgbClr val="EEF3F5"/>
            </a:solidFill>
            <a:prstDash val="solid"/>
          </a:ln>
        </p:spPr>
      </p:sp>
      <p:sp>
        <p:nvSpPr>
          <p:cNvPr id="5" name="cardtext Structural, not surprising"/>
          <p:cNvSpPr txBox="1"/>
          <p:nvPr/>
        </p:nvSpPr>
        <p:spPr>
          <a:xfrm>
            <a:off x="713232" y="1499616"/>
            <a:ext cx="3236976" cy="184708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Structural, not surprising</a:t>
            </a:r>
            <a:endParaRPr lang="en-US" sz="1600" dirty="0"/>
          </a:p>
          <a:p>
            <a:pPr indent="0" marL="0">
              <a:buNone/>
            </a:pPr>
            <a:r>
              <a:rPr lang="en-US" sz="1500" dirty="0">
                <a:solidFill>
                  <a:srgbClr val="2B3A47"/>
                </a:solidFill>
              </a:rPr>
              <a:t>Electronics: ψ = η ≈ 0.97–0.98. Only the PV cell converts non-work input to work, at ≈ 25 %.</a:t>
            </a:r>
            <a:endParaRPr lang="en-US" sz="1600" dirty="0"/>
          </a:p>
        </p:txBody>
      </p:sp>
      <p:sp>
        <p:nvSpPr>
          <p:cNvPr id="6" name="card Inside the PV term"/>
          <p:cNvSpPr/>
          <p:nvPr/>
        </p:nvSpPr>
        <p:spPr>
          <a:xfrm>
            <a:off x="4297680" y="1371600"/>
            <a:ext cx="3566160" cy="2103120"/>
          </a:xfrm>
          <a:prstGeom prst="roundRect">
            <a:avLst>
              <a:gd name="adj" fmla="val 3478"/>
            </a:avLst>
          </a:prstGeom>
          <a:solidFill>
            <a:srgbClr val="FBEBD3"/>
          </a:solidFill>
          <a:ln w="12700">
            <a:solidFill>
              <a:srgbClr val="FBEBD3"/>
            </a:solidFill>
            <a:prstDash val="solid"/>
          </a:ln>
        </p:spPr>
      </p:sp>
      <p:sp>
        <p:nvSpPr>
          <p:cNvPr id="7" name="cardtext Inside the PV term"/>
          <p:cNvSpPr txBox="1"/>
          <p:nvPr/>
        </p:nvSpPr>
        <p:spPr>
          <a:xfrm>
            <a:off x="4462272" y="1499616"/>
            <a:ext cx="3236976" cy="184708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Inside the PV term</a:t>
            </a:r>
            <a:endParaRPr lang="en-US" sz="1600" dirty="0"/>
          </a:p>
          <a:p>
            <a:pPr indent="0" marL="0">
              <a:buNone/>
            </a:pPr>
            <a:r>
              <a:rPr lang="en-US" sz="1500" dirty="0">
                <a:solidFill>
                  <a:srgbClr val="2B3A47"/>
                </a:solidFill>
              </a:rPr>
              <a:t>≈ 80 % internal (thermalisation, recombination, resistance) · 17 % optical · 3 % heat.</a:t>
            </a:r>
            <a:endParaRPr lang="en-US" sz="1600" dirty="0"/>
          </a:p>
        </p:txBody>
      </p:sp>
      <p:sp>
        <p:nvSpPr>
          <p:cNvPr id="8" name="card Small terms, same order everywhere"/>
          <p:cNvSpPr/>
          <p:nvPr/>
        </p:nvSpPr>
        <p:spPr>
          <a:xfrm>
            <a:off x="8046720" y="1371600"/>
            <a:ext cx="3566160" cy="2103120"/>
          </a:xfrm>
          <a:prstGeom prst="roundRect">
            <a:avLst>
              <a:gd name="adj" fmla="val 3478"/>
            </a:avLst>
          </a:prstGeom>
          <a:solidFill>
            <a:srgbClr val="EEF3F5"/>
          </a:solidFill>
          <a:ln w="12700">
            <a:solidFill>
              <a:srgbClr val="EEF3F5"/>
            </a:solidFill>
            <a:prstDash val="solid"/>
          </a:ln>
        </p:spPr>
      </p:sp>
      <p:sp>
        <p:nvSpPr>
          <p:cNvPr id="9" name="cardtext Small terms, same order everywhere"/>
          <p:cNvSpPr txBox="1"/>
          <p:nvPr/>
        </p:nvSpPr>
        <p:spPr>
          <a:xfrm>
            <a:off x="8211312" y="1499616"/>
            <a:ext cx="3236976" cy="184708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Small terms, same order everywhere</a:t>
            </a:r>
            <a:endParaRPr lang="en-US" sz="1600" dirty="0"/>
          </a:p>
          <a:p>
            <a:pPr indent="0" marL="0">
              <a:buNone/>
            </a:pPr>
            <a:r>
              <a:rPr lang="en-US" sz="1500" dirty="0">
                <a:solidFill>
                  <a:srgbClr val="2B3A47"/>
                </a:solidFill>
              </a:rPr>
              <a:t>Inverter &gt; wiring &gt; PCS ≫ battery I²R. Inverter destroys 13–14× the cells' I²R.</a:t>
            </a:r>
            <a:endParaRPr lang="en-US" sz="1600" dirty="0"/>
          </a:p>
        </p:txBody>
      </p:sp>
      <p:sp>
        <p:nvSpPr>
          <p:cNvPr id="10" name="stat battery I²R share of all exergy destroyed (162–209 kWh/yr)"/>
          <p:cNvSpPr txBox="1"/>
          <p:nvPr/>
        </p:nvSpPr>
        <p:spPr>
          <a:xfrm>
            <a:off x="548640" y="3840480"/>
            <a:ext cx="3566160" cy="1234440"/>
          </a:xfrm>
          <a:prstGeom prst="rect">
            <a:avLst/>
          </a:prstGeom>
          <a:noFill/>
          <a:ln/>
        </p:spPr>
        <p:txBody>
          <a:bodyPr wrap="square" lIns="0" tIns="0" rIns="0" bIns="0" rtlCol="0" anchor="t"/>
          <a:lstStyle/>
          <a:p>
            <a:pPr indent="0" marL="0">
              <a:buNone/>
            </a:pPr>
            <a:r>
              <a:rPr lang="en-US" sz="4000" b="1" dirty="0">
                <a:solidFill>
                  <a:srgbClr val="2A8C82"/>
                </a:solidFill>
                <a:latin typeface="Cambria" pitchFamily="34" charset="0"/>
                <a:ea typeface="Cambria" pitchFamily="34" charset="-122"/>
                <a:cs typeface="Cambria" pitchFamily="34" charset="-120"/>
              </a:rPr>
              <a:t>0.07 %</a:t>
            </a:r>
            <a:endParaRPr lang="en-US" sz="4000" dirty="0"/>
          </a:p>
          <a:p>
            <a:pPr indent="0" marL="0">
              <a:buNone/>
            </a:pPr>
            <a:r>
              <a:rPr lang="en-US" sz="1300" dirty="0">
                <a:solidFill>
                  <a:srgbClr val="4A5966"/>
                </a:solidFill>
              </a:rPr>
              <a:t>battery I²R share of all exergy destroyed (162–209 kWh/yr)</a:t>
            </a:r>
            <a:endParaRPr lang="en-US" sz="4000" dirty="0"/>
          </a:p>
        </p:txBody>
      </p:sp>
      <p:sp>
        <p:nvSpPr>
          <p:cNvPr id="11" name="stat battery temperature rise above ambient"/>
          <p:cNvSpPr txBox="1"/>
          <p:nvPr/>
        </p:nvSpPr>
        <p:spPr>
          <a:xfrm>
            <a:off x="4297680" y="3840480"/>
            <a:ext cx="3566160" cy="1234440"/>
          </a:xfrm>
          <a:prstGeom prst="rect">
            <a:avLst/>
          </a:prstGeom>
          <a:noFill/>
          <a:ln/>
        </p:spPr>
        <p:txBody>
          <a:bodyPr wrap="square" lIns="0" tIns="0" rIns="0" bIns="0" rtlCol="0" anchor="t"/>
          <a:lstStyle/>
          <a:p>
            <a:pPr indent="0" marL="0">
              <a:buNone/>
            </a:pPr>
            <a:r>
              <a:rPr lang="en-US" sz="4000" b="1" dirty="0">
                <a:solidFill>
                  <a:srgbClr val="2A8C82"/>
                </a:solidFill>
                <a:latin typeface="Cambria" pitchFamily="34" charset="0"/>
                <a:ea typeface="Cambria" pitchFamily="34" charset="-122"/>
                <a:cs typeface="Cambria" pitchFamily="34" charset="-120"/>
              </a:rPr>
              <a:t>≤ 6.9 K</a:t>
            </a:r>
            <a:endParaRPr lang="en-US" sz="4000" dirty="0"/>
          </a:p>
          <a:p>
            <a:pPr indent="0" marL="0">
              <a:buNone/>
            </a:pPr>
            <a:r>
              <a:rPr lang="en-US" sz="1300" dirty="0">
                <a:solidFill>
                  <a:srgbClr val="4A5966"/>
                </a:solidFill>
              </a:rPr>
              <a:t>battery temperature rise above ambient</a:t>
            </a:r>
            <a:endParaRPr lang="en-US" sz="4000" dirty="0"/>
          </a:p>
        </p:txBody>
      </p:sp>
      <p:sp>
        <p:nvSpPr>
          <p:cNvPr id="12" name="stat capacity fade per year (Jodhpur highest, 268 cycles/yr)"/>
          <p:cNvSpPr txBox="1"/>
          <p:nvPr/>
        </p:nvSpPr>
        <p:spPr>
          <a:xfrm>
            <a:off x="8046720" y="3840480"/>
            <a:ext cx="3566160" cy="1234440"/>
          </a:xfrm>
          <a:prstGeom prst="rect">
            <a:avLst/>
          </a:prstGeom>
          <a:noFill/>
          <a:ln/>
        </p:spPr>
        <p:txBody>
          <a:bodyPr wrap="square" lIns="0" tIns="0" rIns="0" bIns="0" rtlCol="0" anchor="t"/>
          <a:lstStyle/>
          <a:p>
            <a:pPr indent="0" marL="0">
              <a:buNone/>
            </a:pPr>
            <a:r>
              <a:rPr lang="en-US" sz="4000" b="1" dirty="0">
                <a:solidFill>
                  <a:srgbClr val="2A8C82"/>
                </a:solidFill>
                <a:latin typeface="Cambria" pitchFamily="34" charset="0"/>
                <a:ea typeface="Cambria" pitchFamily="34" charset="-122"/>
                <a:cs typeface="Cambria" pitchFamily="34" charset="-120"/>
              </a:rPr>
              <a:t>0.9–1.3 %</a:t>
            </a:r>
            <a:endParaRPr lang="en-US" sz="4000" dirty="0"/>
          </a:p>
          <a:p>
            <a:pPr indent="0" marL="0">
              <a:buNone/>
            </a:pPr>
            <a:r>
              <a:rPr lang="en-US" sz="1300" dirty="0">
                <a:solidFill>
                  <a:srgbClr val="4A5966"/>
                </a:solidFill>
              </a:rPr>
              <a:t>capacity fade per year (Jodhpur highest, 268 cycles/yr)</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Coverage: each city has a different weak season</a:t>
            </a:r>
            <a:endParaRPr lang="en-US" sz="3000" dirty="0"/>
          </a:p>
        </p:txBody>
      </p:sp>
      <p:pic>
        <p:nvPicPr>
          <p:cNvPr id="4" name="fig fig04_monthly_SCR.png" descr="Monthly coverage">    </p:cNvPr>
          <p:cNvPicPr>
            <a:picLocks noChangeAspect="1"/>
          </p:cNvPicPr>
          <p:nvPr/>
        </p:nvPicPr>
        <p:blipFill>
          <a:blip r:embed="rId1"/>
          <a:stretch>
            <a:fillRect/>
          </a:stretch>
        </p:blipFill>
        <p:spPr>
          <a:xfrm>
            <a:off x="548640" y="1280160"/>
            <a:ext cx="5852160" cy="3773352"/>
          </a:xfrm>
          <a:prstGeom prst="rect">
            <a:avLst/>
          </a:prstGeom>
        </p:spPr>
      </p:pic>
      <p:graphicFrame>
        <p:nvGraphicFramePr>
          <p:cNvPr id="25" name="table"/>
          <p:cNvGraphicFramePr>
            <a:graphicFrameLocks noGrp="1"/>
          </p:cNvGraphicFramePr>
          <p:nvPr>
            <p:extLst>
              <p:ext uri="{D42A27DB-BD31-4B8C-83A1-F6EECF244321}">
                <p14:modId xmlns:p14="http://schemas.microsoft.com/office/powerpoint/2010/main" val="1579011935"/>
              </p:ext>
            </p:extLst>
          </p:nvPr>
        </p:nvGraphicFramePr>
        <p:xfrm>
          <a:off x="6675120" y="1371600"/>
          <a:ext cx="4937760" cy="914400"/>
        </p:xfrm>
        <a:graphic>
          <a:graphicData uri="http://schemas.openxmlformats.org/drawingml/2006/table">
            <a:tbl>
              <a:tblPr/>
              <a:tblGrid>
                <a:gridCol w="1920240"/>
                <a:gridCol w="1005840"/>
                <a:gridCol w="1005840"/>
                <a:gridCol w="1005840"/>
              </a:tblGrid>
              <a:tr h="411480">
                <a:tc>
                  <a:txBody>
                    <a:bodyPr/>
                    <a:lstStyle/>
                    <a:p>
                      <a:pPr indent="0" marL="0">
                        <a:buNone/>
                      </a:pPr>
                      <a:r>
                        <a:rPr lang="en-US" sz="1300" b="1" dirty="0">
                          <a:solidFill>
                            <a:srgbClr val="FFFFFF"/>
                          </a:solidFill>
                        </a:rPr>
                        <a:t>Coverage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Jodhpur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Bengaluru</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Guwahati</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411480">
                <a:tc>
                  <a:txBody>
                    <a:bodyPr/>
                    <a:lstStyle/>
                    <a:p>
                      <a:pPr indent="0" marL="0">
                        <a:buNone/>
                      </a:pPr>
                      <a:r>
                        <a:rPr lang="en-US" sz="1300" dirty="0">
                          <a:solidFill>
                            <a:srgbClr val="22303C"/>
                          </a:solidFill>
                        </a:rPr>
                        <a:t>Winter (DJF)</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76.6</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76.4</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70.5</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22303C"/>
                          </a:solidFill>
                        </a:rPr>
                        <a:t>Pre-monsoon (MAM)</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84.7</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80.6</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72.1</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11480">
                <a:tc>
                  <a:txBody>
                    <a:bodyPr/>
                    <a:lstStyle/>
                    <a:p>
                      <a:pPr indent="0" marL="0">
                        <a:buNone/>
                      </a:pPr>
                      <a:r>
                        <a:rPr lang="en-US" sz="1300" dirty="0">
                          <a:solidFill>
                            <a:srgbClr val="22303C"/>
                          </a:solidFill>
                        </a:rPr>
                        <a:t>Monsoon (JJAS)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79.3</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71.6</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67.7</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22303C"/>
                          </a:solidFill>
                        </a:rPr>
                        <a:t>Post-monsoon (ON)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77.6</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67.0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72.8</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11480">
                <a:tc>
                  <a:txBody>
                    <a:bodyPr/>
                    <a:lstStyle/>
                    <a:p>
                      <a:pPr indent="0" marL="0">
                        <a:buNone/>
                      </a:pPr>
                      <a:r>
                        <a:rPr lang="en-US" sz="1300" dirty="0">
                          <a:solidFill>
                            <a:srgbClr val="22303C"/>
                          </a:solidFill>
                        </a:rPr>
                        <a:t>Weakest month</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Dec 74.0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Nov 62.2</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Jun 58.6</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22303C"/>
                          </a:solidFill>
                        </a:rPr>
                        <a:t>CoV of monthly SCR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0.055</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0.095</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0.063</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bl>
          </a:graphicData>
        </a:graphic>
      </p:graphicFrame>
      <p:sp>
        <p:nvSpPr>
          <p:cNvPr id="6" name="takeaway bg"/>
          <p:cNvSpPr/>
          <p:nvPr/>
        </p:nvSpPr>
        <p:spPr>
          <a:xfrm>
            <a:off x="548640" y="5760720"/>
            <a:ext cx="11064240" cy="502920"/>
          </a:xfrm>
          <a:prstGeom prst="roundRect">
            <a:avLst>
              <a:gd name="adj" fmla="val 10909"/>
            </a:avLst>
          </a:prstGeom>
          <a:solidFill>
            <a:srgbClr val="FBEBD3"/>
          </a:solidFill>
          <a:ln w="12700">
            <a:solidFill>
              <a:srgbClr val="FBEBD3"/>
            </a:solidFill>
            <a:prstDash val="solid"/>
          </a:ln>
        </p:spPr>
      </p:sp>
      <p:sp>
        <p:nvSpPr>
          <p:cNvPr id="7" name="takeaway"/>
          <p:cNvSpPr txBox="1"/>
          <p:nvPr/>
        </p:nvSpPr>
        <p:spPr>
          <a:xfrm>
            <a:off x="731520" y="5760720"/>
            <a:ext cx="10698480" cy="502920"/>
          </a:xfrm>
          <a:prstGeom prst="rect">
            <a:avLst/>
          </a:prstGeom>
          <a:noFill/>
          <a:ln/>
        </p:spPr>
        <p:txBody>
          <a:bodyPr wrap="square" lIns="0" tIns="0" rIns="0" bIns="0" rtlCol="0" anchor="ctr"/>
          <a:lstStyle/>
          <a:p>
            <a:pPr indent="0" marL="0">
              <a:buNone/>
            </a:pPr>
            <a:r>
              <a:rPr lang="en-US" sz="1500" b="1" dirty="0">
                <a:solidFill>
                  <a:srgbClr val="7A4A0E"/>
                </a:solidFill>
              </a:rPr>
              <a:t>Limit is the evening and night load: even the best month reaches only 86 %</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A typical day: PV for daytime, battery for evening, grid for night</a:t>
            </a:r>
            <a:endParaRPr lang="en-US" sz="3000" dirty="0"/>
          </a:p>
        </p:txBody>
      </p:sp>
      <p:pic>
        <p:nvPicPr>
          <p:cNvPr id="4" name="fig fig07_daily_dispatch.png" descr="Daily dispatch">    </p:cNvPr>
          <p:cNvPicPr>
            <a:picLocks noChangeAspect="1"/>
          </p:cNvPicPr>
          <p:nvPr/>
        </p:nvPicPr>
        <p:blipFill>
          <a:blip r:embed="rId1"/>
          <a:stretch>
            <a:fillRect/>
          </a:stretch>
        </p:blipFill>
        <p:spPr>
          <a:xfrm>
            <a:off x="548640" y="1280160"/>
            <a:ext cx="11064240" cy="3616510"/>
          </a:xfrm>
          <a:prstGeom prst="rect">
            <a:avLst/>
          </a:prstGeom>
        </p:spPr>
      </p:pic>
      <p:sp>
        <p:nvSpPr>
          <p:cNvPr id="5" name="takeaway bg"/>
          <p:cNvSpPr/>
          <p:nvPr/>
        </p:nvSpPr>
        <p:spPr>
          <a:xfrm>
            <a:off x="548640" y="5486400"/>
            <a:ext cx="11064240" cy="502920"/>
          </a:xfrm>
          <a:prstGeom prst="roundRect">
            <a:avLst>
              <a:gd name="adj" fmla="val 10909"/>
            </a:avLst>
          </a:prstGeom>
          <a:solidFill>
            <a:srgbClr val="FBEBD3"/>
          </a:solidFill>
          <a:ln w="12700">
            <a:solidFill>
              <a:srgbClr val="FBEBD3"/>
            </a:solidFill>
            <a:prstDash val="solid"/>
          </a:ln>
        </p:spPr>
      </p:sp>
      <p:sp>
        <p:nvSpPr>
          <p:cNvPr id="6" name="takeaway"/>
          <p:cNvSpPr txBox="1"/>
          <p:nvPr/>
        </p:nvSpPr>
        <p:spPr>
          <a:xfrm>
            <a:off x="731520" y="5486400"/>
            <a:ext cx="10698480" cy="502920"/>
          </a:xfrm>
          <a:prstGeom prst="rect">
            <a:avLst/>
          </a:prstGeom>
          <a:noFill/>
          <a:ln/>
        </p:spPr>
        <p:txBody>
          <a:bodyPr wrap="square" lIns="0" tIns="0" rIns="0" bIns="0" rtlCol="0" anchor="ctr"/>
          <a:lstStyle/>
          <a:p>
            <a:pPr indent="0" marL="0">
              <a:buNone/>
            </a:pPr>
            <a:r>
              <a:rPr lang="en-US" sz="1500" b="1" dirty="0">
                <a:solidFill>
                  <a:srgbClr val="7A4A0E"/>
                </a:solidFill>
              </a:rPr>
              <a:t>75–82 % of PV output used on site; exports 12.7–22.5 MWh/yr</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Sensitivity: the weather source matters most</a:t>
            </a:r>
            <a:endParaRPr lang="en-US" sz="3000" dirty="0"/>
          </a:p>
        </p:txBody>
      </p:sp>
      <p:pic>
        <p:nvPicPr>
          <p:cNvPr id="4" name="fig fig08_sensitivity.png" descr="Sensitivity">    </p:cNvPr>
          <p:cNvPicPr>
            <a:picLocks noChangeAspect="1"/>
          </p:cNvPicPr>
          <p:nvPr/>
        </p:nvPicPr>
        <p:blipFill>
          <a:blip r:embed="rId1"/>
          <a:stretch>
            <a:fillRect/>
          </a:stretch>
        </p:blipFill>
        <p:spPr>
          <a:xfrm>
            <a:off x="2238271" y="1234440"/>
            <a:ext cx="7684978" cy="2651760"/>
          </a:xfrm>
          <a:prstGeom prst="rect">
            <a:avLst/>
          </a:prstGeom>
        </p:spPr>
      </p:pic>
      <p:graphicFrame>
        <p:nvGraphicFramePr>
          <p:cNvPr id="27" name="table"/>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3474720"/>
                <a:gridCol w="7589520"/>
              </a:tblGrid>
              <a:tr h="329184">
                <a:tc>
                  <a:txBody>
                    <a:bodyPr/>
                    <a:lstStyle/>
                    <a:p>
                      <a:pPr indent="0" marL="0">
                        <a:buNone/>
                      </a:pPr>
                      <a:r>
                        <a:rPr lang="en-US" sz="1200" b="1" dirty="0">
                          <a:solidFill>
                            <a:srgbClr val="FFFFFF"/>
                          </a:solidFill>
                        </a:rPr>
                        <a:t>Change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Effect</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329184">
                <a:tc>
                  <a:txBody>
                    <a:bodyPr/>
                    <a:lstStyle/>
                    <a:p>
                      <a:pPr indent="0" marL="0">
                        <a:buNone/>
                      </a:pPr>
                      <a:r>
                        <a:rPr lang="en-US" sz="1200" dirty="0">
                          <a:solidFill>
                            <a:srgbClr val="22303C"/>
                          </a:solidFill>
                        </a:rPr>
                        <a:t>Weather: ERA5 2023</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Coverage 71.8 / 76.6 / 61.7 % (J/B/G): Bengaluru first. Monsoon ψ still above winter ψ</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22303C"/>
                          </a:solidFill>
                        </a:rPr>
                        <a:t>EV timing: workplace / residential / synthetic</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Residential −15 to −18 points; synthetic +7 to +10. City order unchanged</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29184">
                <a:tc>
                  <a:txBody>
                    <a:bodyPr/>
                    <a:lstStyle/>
                    <a:p>
                      <a:pPr indent="0" marL="0">
                        <a:buNone/>
                      </a:pPr>
                      <a:r>
                        <a:rPr lang="en-US" sz="1200" dirty="0">
                          <a:solidFill>
                            <a:srgbClr val="22303C"/>
                          </a:solidFill>
                        </a:rPr>
                        <a:t>Battery 0 → 186 kWh</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+25–30 pts to 93 kWh, +8–12 more at 140 kWh, then +1–3: knee ≈ 140 kWh</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22303C"/>
                          </a:solidFill>
                        </a:rPr>
                        <a:t>Irradiance 80 → 130 %</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Coverage only ±12–14 pts over the whole range; ψ_PV ≤ 0.2 pt</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29184">
                <a:tc>
                  <a:txBody>
                    <a:bodyPr/>
                    <a:lstStyle/>
                    <a:p>
                      <a:pPr indent="0" marL="0">
                        <a:buNone/>
                      </a:pPr>
                      <a:r>
                        <a:rPr lang="en-US" sz="1200" dirty="0">
                          <a:solidFill>
                            <a:srgbClr val="22303C"/>
                          </a:solidFill>
                        </a:rPr>
                        <a:t>NOCT formula · battery R × 3</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Yield −1.8 to −2.8 % · coverage −0.2 pt</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Uncertainty: three years and 200 paired Monte Carlo draws</a:t>
            </a:r>
            <a:endParaRPr lang="en-US" sz="3000" dirty="0"/>
          </a:p>
        </p:txBody>
      </p:sp>
      <p:pic>
        <p:nvPicPr>
          <p:cNvPr id="4" name="fig fig14_monte_carlo.png" descr="Monte Carlo">    </p:cNvPr>
          <p:cNvPicPr>
            <a:picLocks noChangeAspect="1"/>
          </p:cNvPicPr>
          <p:nvPr/>
        </p:nvPicPr>
        <p:blipFill>
          <a:blip r:embed="rId1"/>
          <a:stretch>
            <a:fillRect/>
          </a:stretch>
        </p:blipFill>
        <p:spPr>
          <a:xfrm>
            <a:off x="548640" y="1234440"/>
            <a:ext cx="6766560" cy="2334853"/>
          </a:xfrm>
          <a:prstGeom prst="rect">
            <a:avLst/>
          </a:prstGeom>
        </p:spPr>
      </p:pic>
      <p:graphicFrame>
        <p:nvGraphicFramePr>
          <p:cNvPr id="28" name="table"/>
          <p:cNvGraphicFramePr>
            <a:graphicFrameLocks noGrp="1"/>
          </p:cNvGraphicFramePr>
          <p:nvPr>
            <p:extLst>
              <p:ext uri="{D42A27DB-BD31-4B8C-83A1-F6EECF244321}">
                <p14:modId xmlns:p14="http://schemas.microsoft.com/office/powerpoint/2010/main" val="1579011935"/>
              </p:ext>
            </p:extLst>
          </p:nvPr>
        </p:nvGraphicFramePr>
        <p:xfrm>
          <a:off x="7498080" y="1280160"/>
          <a:ext cx="4114800" cy="914400"/>
        </p:xfrm>
        <a:graphic>
          <a:graphicData uri="http://schemas.openxmlformats.org/drawingml/2006/table">
            <a:tbl>
              <a:tblPr/>
              <a:tblGrid>
                <a:gridCol w="1280160"/>
                <a:gridCol w="1280160"/>
                <a:gridCol w="1554480"/>
              </a:tblGrid>
              <a:tr h="310896">
                <a:tc>
                  <a:txBody>
                    <a:bodyPr/>
                    <a:lstStyle/>
                    <a:p>
                      <a:pPr indent="0" marL="0">
                        <a:buNone/>
                      </a:pPr>
                      <a:r>
                        <a:rPr lang="en-US" sz="1100" b="1" dirty="0">
                          <a:solidFill>
                            <a:srgbClr val="FFFFFF"/>
                          </a:solidFill>
                        </a:rPr>
                        <a:t>Input</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100" b="1" dirty="0">
                          <a:solidFill>
                            <a:srgbClr val="FFFFFF"/>
                          </a:solidFill>
                        </a:rPr>
                        <a:t>Range</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100" b="1" dirty="0">
                          <a:solidFill>
                            <a:srgbClr val="FFFFFF"/>
                          </a:solidFill>
                        </a:rPr>
                        <a:t>Basis</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310896">
                <a:tc>
                  <a:txBody>
                    <a:bodyPr/>
                    <a:lstStyle/>
                    <a:p>
                      <a:pPr indent="0" marL="0">
                        <a:buNone/>
                      </a:pPr>
                      <a:r>
                        <a:rPr lang="en-US" sz="1100" dirty="0">
                          <a:solidFill>
                            <a:srgbClr val="22303C"/>
                          </a:solidFill>
                        </a:rPr>
                        <a:t>Irradiance</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100" dirty="0">
                          <a:solidFill>
                            <a:srgbClr val="22303C"/>
                          </a:solidFill>
                        </a:rPr>
                        <a:t>0.93–1.07</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100" dirty="0">
                          <a:solidFill>
                            <a:srgbClr val="22303C"/>
                          </a:solidFill>
                        </a:rPr>
                        <a:t>POWER ≈ 0 bias vs BSRN</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22303C"/>
                          </a:solidFill>
                        </a:rPr>
                        <a:t>Module η_ref</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100" dirty="0">
                          <a:solidFill>
                            <a:srgbClr val="22303C"/>
                          </a:solidFill>
                        </a:rPr>
                        <a:t>±3 %</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100" dirty="0">
                          <a:solidFill>
                            <a:srgbClr val="22303C"/>
                          </a:solidFill>
                        </a:rPr>
                        <a:t>Datasheet tolerance</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10896">
                <a:tc>
                  <a:txBody>
                    <a:bodyPr/>
                    <a:lstStyle/>
                    <a:p>
                      <a:pPr indent="0" marL="0">
                        <a:buNone/>
                      </a:pPr>
                      <a:r>
                        <a:rPr lang="en-US" sz="1100" dirty="0">
                          <a:solidFill>
                            <a:srgbClr val="22303C"/>
                          </a:solidFill>
                        </a:rPr>
                        <a:t>NOCT</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100" dirty="0">
                          <a:solidFill>
                            <a:srgbClr val="22303C"/>
                          </a:solidFill>
                        </a:rPr>
                        <a:t>41–45 °C</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100" dirty="0">
                          <a:solidFill>
                            <a:srgbClr val="22303C"/>
                          </a:solidFill>
                        </a:rPr>
                        <a:t>Datasheet 43 ± 2</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22303C"/>
                          </a:solidFill>
                        </a:rPr>
                        <a:t>Inverter, PCS</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100" dirty="0">
                          <a:solidFill>
                            <a:srgbClr val="22303C"/>
                          </a:solidFill>
                        </a:rPr>
                        <a:t>0.96–0.98</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100" dirty="0">
                          <a:solidFill>
                            <a:srgbClr val="22303C"/>
                          </a:solidFill>
                        </a:rPr>
                        <a:t>Brief</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10896">
                <a:tc>
                  <a:txBody>
                    <a:bodyPr/>
                    <a:lstStyle/>
                    <a:p>
                      <a:pPr indent="0" marL="0">
                        <a:buNone/>
                      </a:pPr>
                      <a:r>
                        <a:rPr lang="en-US" sz="1100" dirty="0">
                          <a:solidFill>
                            <a:srgbClr val="22303C"/>
                          </a:solidFill>
                        </a:rPr>
                        <a:t>Cell R</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100" dirty="0">
                          <a:solidFill>
                            <a:srgbClr val="22303C"/>
                          </a:solidFill>
                        </a:rPr>
                        <a:t>0.30–0.90 mΩ</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100" dirty="0">
                          <a:solidFill>
                            <a:srgbClr val="22303C"/>
                          </a:solidFill>
                        </a:rPr>
                        <a:t>DC 2–3× AC</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22303C"/>
                          </a:solidFill>
                        </a:rPr>
                        <a:t>Battery price</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100" dirty="0">
                          <a:solidFill>
                            <a:srgbClr val="22303C"/>
                          </a:solidFill>
                        </a:rPr>
                        <a:t>16–25k INR/kWh</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100" dirty="0">
                          <a:solidFill>
                            <a:srgbClr val="22303C"/>
                          </a:solidFill>
                        </a:rPr>
                        <a:t>2026 quotes</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10896">
                <a:tc>
                  <a:txBody>
                    <a:bodyPr/>
                    <a:lstStyle/>
                    <a:p>
                      <a:pPr indent="0" marL="0">
                        <a:buNone/>
                      </a:pPr>
                      <a:r>
                        <a:rPr lang="en-US" sz="1100" dirty="0">
                          <a:solidFill>
                            <a:srgbClr val="22303C"/>
                          </a:solidFill>
                        </a:rPr>
                        <a:t>Weather year</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100" dirty="0">
                          <a:solidFill>
                            <a:srgbClr val="22303C"/>
                          </a:solidFill>
                        </a:rPr>
                        <a:t>2021/22/23</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100" dirty="0">
                          <a:solidFill>
                            <a:srgbClr val="22303C"/>
                          </a:solidFill>
                        </a:rPr>
                        <a:t>Equal odds</a:t>
                      </a:r>
                      <a:endParaRPr lang="en-US" sz="11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bl>
          </a:graphicData>
        </a:graphic>
      </p:graphicFrame>
      <p:graphicFrame>
        <p:nvGraphicFramePr>
          <p:cNvPr id="55" name="table"/>
          <p:cNvGraphicFramePr>
            <a:graphicFrameLocks noGrp="1"/>
          </p:cNvGraphicFramePr>
          <p:nvPr>
            <p:extLst>
              <p:ext uri="{D42A27DB-BD31-4B8C-83A1-F6EECF244321}">
                <p14:modId xmlns:p14="http://schemas.microsoft.com/office/powerpoint/2010/main" val="1579011935"/>
              </p:ext>
            </p:extLst>
          </p:nvPr>
        </p:nvGraphicFramePr>
        <p:xfrm>
          <a:off x="548640" y="4160520"/>
          <a:ext cx="6766560" cy="914400"/>
        </p:xfrm>
        <a:graphic>
          <a:graphicData uri="http://schemas.openxmlformats.org/drawingml/2006/table">
            <a:tbl>
              <a:tblPr/>
              <a:tblGrid>
                <a:gridCol w="5120640"/>
                <a:gridCol w="1645920"/>
              </a:tblGrid>
              <a:tr h="310896">
                <a:tc>
                  <a:txBody>
                    <a:bodyPr/>
                    <a:lstStyle/>
                    <a:p>
                      <a:pPr indent="0" marL="0">
                        <a:buNone/>
                      </a:pPr>
                      <a:r>
                        <a:rPr lang="en-US" sz="1300" b="1" dirty="0">
                          <a:solidFill>
                            <a:srgbClr val="FFFFFF"/>
                          </a:solidFill>
                        </a:rPr>
                        <a:t>Share of 200 draws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Result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310896">
                <a:tc>
                  <a:txBody>
                    <a:bodyPr/>
                    <a:lstStyle/>
                    <a:p>
                      <a:pPr indent="0" marL="0">
                        <a:buNone/>
                      </a:pPr>
                      <a:r>
                        <a:rPr lang="en-US" sz="1300" dirty="0">
                          <a:solidFill>
                            <a:srgbClr val="22303C"/>
                          </a:solidFill>
                        </a:rPr>
                        <a:t>Coverage Jodhpur &gt; Bengaluru &gt; Guwahati</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100 %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22303C"/>
                          </a:solidFill>
                        </a:rPr>
                        <a:t>ψ_PV monsoon &gt; winter, every city</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100 %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10896">
                <a:tc>
                  <a:txBody>
                    <a:bodyPr/>
                    <a:lstStyle/>
                    <a:p>
                      <a:pPr indent="0" marL="0">
                        <a:buNone/>
                      </a:pPr>
                      <a:r>
                        <a:rPr lang="en-US" sz="1300" dirty="0">
                          <a:solidFill>
                            <a:srgbClr val="22303C"/>
                          </a:solidFill>
                        </a:rPr>
                        <a:t>ψ_PV of Jodhpur lowest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100 %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10896">
                <a:tc>
                  <a:txBody>
                    <a:bodyPr/>
                    <a:lstStyle/>
                    <a:p>
                      <a:pPr indent="0" marL="0">
                        <a:buNone/>
                      </a:pPr>
                      <a:r>
                        <a:rPr lang="en-US" sz="1300" dirty="0">
                          <a:solidFill>
                            <a:srgbClr val="22303C"/>
                          </a:solidFill>
                        </a:rPr>
                        <a:t>PV + battery NPV &gt; 0, any city</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0 %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bl>
          </a:graphicData>
        </a:graphic>
      </p:graphicFrame>
      <p:sp>
        <p:nvSpPr>
          <p:cNvPr id="7" name="card Caveat"/>
          <p:cNvSpPr/>
          <p:nvPr/>
        </p:nvSpPr>
        <p:spPr>
          <a:xfrm>
            <a:off x="7498080" y="4023360"/>
            <a:ext cx="4114800" cy="1600200"/>
          </a:xfrm>
          <a:prstGeom prst="roundRect">
            <a:avLst>
              <a:gd name="adj" fmla="val 4571"/>
            </a:avLst>
          </a:prstGeom>
          <a:solidFill>
            <a:srgbClr val="FBEBD3"/>
          </a:solidFill>
          <a:ln w="12700">
            <a:solidFill>
              <a:srgbClr val="FBEBD3"/>
            </a:solidFill>
            <a:prstDash val="solid"/>
          </a:ln>
        </p:spPr>
      </p:sp>
      <p:sp>
        <p:nvSpPr>
          <p:cNvPr id="8" name="cardtext Caveat"/>
          <p:cNvSpPr txBox="1"/>
          <p:nvPr/>
        </p:nvSpPr>
        <p:spPr>
          <a:xfrm>
            <a:off x="7662672" y="4151376"/>
            <a:ext cx="3785616" cy="134416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Caveat</a:t>
            </a:r>
            <a:endParaRPr lang="en-US" sz="1600" dirty="0"/>
          </a:p>
          <a:p>
            <a:pPr indent="0" marL="0">
              <a:buNone/>
            </a:pPr>
            <a:r>
              <a:rPr lang="en-US" sz="1300" dirty="0">
                <a:solidFill>
                  <a:srgbClr val="2B3A47"/>
                </a:solidFill>
              </a:rPr>
              <a:t>Holds within NASA POWER only. Years: Bengaluru and Guwahati swing 3.5 pts; 2023 was their best year.</a:t>
            </a:r>
            <a:endParaRPr lang="en-US" sz="1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Economics: PV pays, the battery does not</a:t>
            </a:r>
            <a:endParaRPr lang="en-US" sz="3000" dirty="0"/>
          </a:p>
        </p:txBody>
      </p:sp>
      <p:pic>
        <p:nvPicPr>
          <p:cNvPr id="4" name="fig fig09_economics.png" descr="Economics">    </p:cNvPr>
          <p:cNvPicPr>
            <a:picLocks noChangeAspect="1"/>
          </p:cNvPicPr>
          <p:nvPr/>
        </p:nvPicPr>
        <p:blipFill>
          <a:blip r:embed="rId1"/>
          <a:stretch>
            <a:fillRect/>
          </a:stretch>
        </p:blipFill>
        <p:spPr>
          <a:xfrm>
            <a:off x="548640" y="1234440"/>
            <a:ext cx="5852160" cy="2221400"/>
          </a:xfrm>
          <a:prstGeom prst="rect">
            <a:avLst/>
          </a:prstGeom>
        </p:spPr>
      </p:pic>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6675120" y="1280160"/>
          <a:ext cx="4937760" cy="914400"/>
        </p:xfrm>
        <a:graphic>
          <a:graphicData uri="http://schemas.openxmlformats.org/drawingml/2006/table">
            <a:tbl>
              <a:tblPr/>
              <a:tblGrid>
                <a:gridCol w="1920240"/>
                <a:gridCol w="1005840"/>
                <a:gridCol w="1005840"/>
                <a:gridCol w="1005840"/>
              </a:tblGrid>
              <a:tr h="365760">
                <a:tc>
                  <a:txBody>
                    <a:bodyPr/>
                    <a:lstStyle/>
                    <a:p>
                      <a:pPr indent="0" marL="0">
                        <a:buNone/>
                      </a:pP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Jodhpur</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Bengaluru</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Guwahati</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365760">
                <a:tc>
                  <a:txBody>
                    <a:bodyPr/>
                    <a:lstStyle/>
                    <a:p>
                      <a:pPr indent="0" marL="0">
                        <a:buNone/>
                      </a:pPr>
                      <a:r>
                        <a:rPr lang="en-US" sz="1200" dirty="0">
                          <a:solidFill>
                            <a:srgbClr val="22303C"/>
                          </a:solidFill>
                        </a:rPr>
                        <a:t>Tariff [INR/kWh]</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6.00</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4.50</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8.72</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22303C"/>
                          </a:solidFill>
                        </a:rPr>
                        <a:t>LCOE PV only</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3.48</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4.12</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4.34</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65760">
                <a:tc>
                  <a:txBody>
                    <a:bodyPr/>
                    <a:lstStyle/>
                    <a:p>
                      <a:pPr indent="0" marL="0">
                        <a:buNone/>
                      </a:pPr>
                      <a:r>
                        <a:rPr lang="en-US" sz="1200" dirty="0">
                          <a:solidFill>
                            <a:srgbClr val="22303C"/>
                          </a:solidFill>
                        </a:rPr>
                        <a:t>LCOE PV + battery</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7.14</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8.45</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8.92</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22303C"/>
                          </a:solidFill>
                        </a:rPr>
                        <a:t>NPV PV only [lakh]</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+8.0</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−2.5</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+11.6</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65760">
                <a:tc>
                  <a:txBody>
                    <a:bodyPr/>
                    <a:lstStyle/>
                    <a:p>
                      <a:pPr indent="0" marL="0">
                        <a:buNone/>
                      </a:pPr>
                      <a:r>
                        <a:rPr lang="en-US" sz="1200" dirty="0">
                          <a:solidFill>
                            <a:srgbClr val="22303C"/>
                          </a:solidFill>
                        </a:rPr>
                        <a:t>NPV PV + batt [lakh]</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−17.0</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−31.8</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−8.8</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22303C"/>
                          </a:solidFill>
                        </a:rPr>
                        <a:t>Payback PV / +batt [yr]</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7.7 / 18.5</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12.4 / never</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7.0 / 12.8</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65760">
                <a:tc>
                  <a:txBody>
                    <a:bodyPr/>
                    <a:lstStyle/>
                    <a:p>
                      <a:pPr indent="0" marL="0">
                        <a:buNone/>
                      </a:pPr>
                      <a:r>
                        <a:rPr lang="en-US" sz="1200" dirty="0">
                          <a:solidFill>
                            <a:srgbClr val="22303C"/>
                          </a:solidFill>
                        </a:rPr>
                        <a:t>CO₂ avoided [t/yr]</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61.8</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52.2</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49.5</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bl>
          </a:graphicData>
        </a:graphic>
      </p:graphicFrame>
      <p:sp>
        <p:nvSpPr>
          <p:cNvPr id="6" name="body"/>
          <p:cNvSpPr txBox="1"/>
          <p:nvPr/>
        </p:nvSpPr>
        <p:spPr>
          <a:xfrm>
            <a:off x="548640" y="4526280"/>
            <a:ext cx="6035040" cy="109728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2B3A47"/>
                </a:solidFill>
              </a:rPr>
              <a:t>Capex 49.8 lakh: PV 19.8 · battery 16.8 · converters 6.7 · installation 6.5</a:t>
            </a:r>
            <a:endParaRPr lang="en-US" sz="1300" dirty="0"/>
          </a:p>
          <a:p>
            <a:pPr marL="203200" indent="-203200">
              <a:spcAft>
                <a:spcPts val="800"/>
              </a:spcAft>
              <a:buSzPct val="100000"/>
              <a:buChar char="•"/>
            </a:pPr>
            <a:r>
              <a:rPr lang="en-US" sz="1300" dirty="0">
                <a:solidFill>
                  <a:srgbClr val="2B3A47"/>
                </a:solidFill>
              </a:rPr>
              <a:t>8 % real, 25 yr, O&amp;M 1.5 %/yr, battery replaced at yr 15 at 60 %, export 3 INR/kWh, CEA 0.710 t/MWh</a:t>
            </a:r>
            <a:endParaRPr lang="en-US" sz="1300" dirty="0"/>
          </a:p>
        </p:txBody>
      </p:sp>
      <p:sp>
        <p:nvSpPr>
          <p:cNvPr id="7" name="takeaway bg"/>
          <p:cNvSpPr/>
          <p:nvPr/>
        </p:nvSpPr>
        <p:spPr>
          <a:xfrm>
            <a:off x="548640" y="5760720"/>
            <a:ext cx="11064240" cy="502920"/>
          </a:xfrm>
          <a:prstGeom prst="roundRect">
            <a:avLst>
              <a:gd name="adj" fmla="val 10909"/>
            </a:avLst>
          </a:prstGeom>
          <a:solidFill>
            <a:srgbClr val="FBEBD3"/>
          </a:solidFill>
          <a:ln w="12700">
            <a:solidFill>
              <a:srgbClr val="FBEBD3"/>
            </a:solidFill>
            <a:prstDash val="solid"/>
          </a:ln>
        </p:spPr>
      </p:sp>
      <p:sp>
        <p:nvSpPr>
          <p:cNvPr id="8" name="takeaway"/>
          <p:cNvSpPr txBox="1"/>
          <p:nvPr/>
        </p:nvSpPr>
        <p:spPr>
          <a:xfrm>
            <a:off x="731520" y="5760720"/>
            <a:ext cx="10698480" cy="502920"/>
          </a:xfrm>
          <a:prstGeom prst="rect">
            <a:avLst/>
          </a:prstGeom>
          <a:noFill/>
          <a:ln/>
        </p:spPr>
        <p:txBody>
          <a:bodyPr wrap="square" lIns="0" tIns="0" rIns="0" bIns="0" rtlCol="0" anchor="ctr"/>
          <a:lstStyle/>
          <a:p>
            <a:pPr indent="0" marL="0">
              <a:buNone/>
            </a:pPr>
            <a:r>
              <a:rPr lang="en-US" sz="1500" b="1" dirty="0">
                <a:solidFill>
                  <a:srgbClr val="7A4A0E"/>
                </a:solidFill>
              </a:rPr>
              <a:t>The battery is thermodynamically cheap (0.07 % of destruction) and economically expensive (doubles LCOE)</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Discussion</a:t>
            </a:r>
            <a:endParaRPr lang="en-US" sz="4000" dirty="0"/>
          </a:p>
        </p:txBody>
      </p:sp>
      <p:sp>
        <p:nvSpPr>
          <p:cNvPr id="4" name="Text 0"/>
          <p:cNvSpPr/>
          <p:nvPr>
            <p:ph idx="101" type="body" hasCustomPrompt="1"/>
          </p:nvPr>
        </p:nvSpPr>
        <p:spPr>
          <a:xfrm>
            <a:off x="731520" y="3703320"/>
            <a:ext cx="10698480" cy="914400"/>
          </a:xfrm>
          <a:prstGeom prst="rect">
            <a:avLst/>
          </a:prstGeom>
          <a:noFill/>
          <a:ln/>
        </p:spPr>
        <p:txBody>
          <a:bodyPr wrap="square" lIns="0" tIns="0" rIns="0" bIns="0" rtlCol="0" anchor="t"/>
          <a:lstStyle/>
          <a:p>
            <a:pPr indent="0" marL="0">
              <a:buNone/>
            </a:pPr>
            <a:r>
              <a:rPr lang="en-US" sz="1800" dirty="0">
                <a:solidFill>
                  <a:srgbClr val="F4D58D"/>
                </a:solidFill>
              </a:rPr>
              <a:t>What held, what reversed, and how each assumption is defended</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AB8C9"/>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Checkpoint-2 expectations vs findings</a:t>
            </a:r>
            <a:endParaRPr lang="en-US" sz="3000" dirty="0"/>
          </a:p>
        </p:txBody>
      </p:sp>
      <p:graphicFrame>
        <p:nvGraphicFramePr>
          <p:cNvPr id="3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657600"/>
                <a:gridCol w="5120640"/>
                <a:gridCol w="2286000"/>
              </a:tblGrid>
              <a:tr h="566928">
                <a:tc>
                  <a:txBody>
                    <a:bodyPr/>
                    <a:lstStyle/>
                    <a:p>
                      <a:pPr indent="0" marL="0">
                        <a:buNone/>
                      </a:pPr>
                      <a:r>
                        <a:rPr lang="en-US" sz="1300" b="1" dirty="0">
                          <a:solidFill>
                            <a:srgbClr val="FFFFFF"/>
                          </a:solidFill>
                        </a:rPr>
                        <a:t>Expected</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Found (NASA POWER 2021–2023)</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Verdict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566928">
                <a:tc>
                  <a:txBody>
                    <a:bodyPr/>
                    <a:lstStyle/>
                    <a:p>
                      <a:pPr indent="0" marL="0">
                        <a:buNone/>
                      </a:pPr>
                      <a:r>
                        <a:rPr lang="en-US" sz="1300" dirty="0">
                          <a:solidFill>
                            <a:srgbClr val="22303C"/>
                          </a:solidFill>
                        </a:rPr>
                        <a:t>Coverage J &gt; B &gt; G</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80 &gt; 74 &gt; 70 %, every year and draw; ERA5 puts Bengaluru first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Supported; source-sensitive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22303C"/>
                          </a:solidFill>
                        </a:rPr>
                        <a:t>ψ: Jodhpur highest, Guwahati lowest with monsoon drop</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B 25.9 &gt; G 25.6 &gt; J 24.8 %; ψ rises in the monsoon everywhere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Reversed</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566928">
                <a:tc>
                  <a:txBody>
                    <a:bodyPr/>
                    <a:lstStyle/>
                    <a:p>
                      <a:pPr indent="0" marL="0">
                        <a:buNone/>
                      </a:pPr>
                      <a:r>
                        <a:rPr lang="en-US" sz="1300" dirty="0">
                          <a:solidFill>
                            <a:srgbClr val="22303C"/>
                          </a:solidFill>
                        </a:rPr>
                        <a:t>PV cell dominates exergy destruction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97.7–97.8 % in all cities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Supported (structural)</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22303C"/>
                          </a:solidFill>
                        </a:rPr>
                        <a:t>Guwahati monsoon dip; Jodhpur heat hit; Bengaluru flattest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Guwahati weakest in monsoon; Jodhpur hottest cells; Jodhpur flattest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Partly</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566928">
                <a:tc>
                  <a:txBody>
                    <a:bodyPr/>
                    <a:lstStyle/>
                    <a:p>
                      <a:pPr indent="0" marL="0">
                        <a:buNone/>
                      </a:pPr>
                      <a:r>
                        <a:rPr lang="en-US" sz="1300" dirty="0">
                          <a:solidFill>
                            <a:srgbClr val="22303C"/>
                          </a:solidFill>
                        </a:rPr>
                        <a:t>Grid dependency, cost, CO₂ opposite to coverage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Grid dependency and CO₂ yes; cost no (tariff decides)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Partly</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22303C"/>
                          </a:solidFill>
                        </a:rPr>
                        <a:t>No single national verdict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Rankings differ by metric; EV timing moves coverage as much as climate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Supported</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bl>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Assumptions and defence (1/2): design, data, thermal</a:t>
            </a:r>
            <a:endParaRPr lang="en-US" sz="3000" dirty="0"/>
          </a:p>
        </p:txBody>
      </p:sp>
      <p:graphicFrame>
        <p:nvGraphicFramePr>
          <p:cNvPr id="3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828800"/>
                <a:gridCol w="2377440"/>
                <a:gridCol w="3749040"/>
                <a:gridCol w="3108960"/>
              </a:tblGrid>
              <a:tr h="438912">
                <a:tc>
                  <a:txBody>
                    <a:bodyPr/>
                    <a:lstStyle/>
                    <a:p>
                      <a:pPr indent="0" marL="0">
                        <a:buNone/>
                      </a:pPr>
                      <a:r>
                        <a:rPr lang="en-US" sz="1200" b="1" dirty="0">
                          <a:solidFill>
                            <a:srgbClr val="FFFFFF"/>
                          </a:solidFill>
                        </a:rPr>
                        <a:t>Assumption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Value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Defence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Weak spot</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438912">
                <a:tc>
                  <a:txBody>
                    <a:bodyPr/>
                    <a:lstStyle/>
                    <a:p>
                      <a:pPr indent="0" marL="0">
                        <a:buNone/>
                      </a:pPr>
                      <a:r>
                        <a:rPr lang="en-US" sz="1200" dirty="0">
                          <a:solidFill>
                            <a:srgbClr val="22303C"/>
                          </a:solidFill>
                        </a:rPr>
                        <a:t>Fixed design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49.6 kWp / 93.2 kWh</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Climate is the only variable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Not cost-optimal per city</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22303C"/>
                          </a:solidFill>
                        </a:rPr>
                        <a:t>Tilt / azimuth</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20° / south</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Loss 0.4–0.9 % vs optimum (checked)</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Inherited, not chosen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38912">
                <a:tc>
                  <a:txBody>
                    <a:bodyPr/>
                    <a:lstStyle/>
                    <a:p>
                      <a:pPr indent="0" marL="0">
                        <a:buNone/>
                      </a:pPr>
                      <a:r>
                        <a:rPr lang="en-US" sz="1200" dirty="0">
                          <a:solidFill>
                            <a:srgbClr val="22303C"/>
                          </a:solidFill>
                        </a:rPr>
                        <a:t>Weather</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NASA POWER 2021–23</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Satellite, ≈ 0 bias vs BSRN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ERA5 flips coverage ranking</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22303C"/>
                          </a:solidFill>
                        </a:rPr>
                        <a:t>EV timing</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Korean public sessions</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Only open session-level data</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Not Indian; same every day</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38912">
                <a:tc>
                  <a:txBody>
                    <a:bodyPr/>
                    <a:lstStyle/>
                    <a:p>
                      <a:pPr indent="0" marL="0">
                        <a:buNone/>
                      </a:pPr>
                      <a:r>
                        <a:rPr lang="en-US" sz="1200" dirty="0">
                          <a:solidFill>
                            <a:srgbClr val="22303C"/>
                          </a:solidFill>
                        </a:rPr>
                        <a:t>α / ε_f / ε_b</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0.90 / 0.84 / 0.89</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Literature ranges; absorbed by NOCT calibration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Uncited in params.m</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22303C"/>
                          </a:solidFill>
                        </a:rPr>
                        <a:t>Wind / sky</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Watmuff 3.0 v · Swinbank</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Standard correlations</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Only Watmuff slope reused</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38912">
                <a:tc>
                  <a:txBody>
                    <a:bodyPr/>
                    <a:lstStyle/>
                    <a:p>
                      <a:pPr indent="0" marL="0">
                        <a:buNone/>
                      </a:pPr>
                      <a:r>
                        <a:rPr lang="en-US" sz="1200" dirty="0">
                          <a:solidFill>
                            <a:srgbClr val="22303C"/>
                          </a:solidFill>
                        </a:rPr>
                        <a:t>h_free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5.55 W/m²K</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Calibrated: reproduces NOCT exactly</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High for pure free convection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22303C"/>
                          </a:solidFill>
                        </a:rPr>
                        <a:t>Low-light k₁, k₂</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PVGIS-5 c-Si</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Published fit (Huld 2011)</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PVGIS-6 values ≈ 40 % smaller</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38912">
                <a:tc>
                  <a:txBody>
                    <a:bodyPr/>
                    <a:lstStyle/>
                    <a:p>
                      <a:pPr indent="0" marL="0">
                        <a:buNone/>
                      </a:pPr>
                      <a:r>
                        <a:rPr lang="en-US" sz="1200" dirty="0">
                          <a:solidFill>
                            <a:srgbClr val="22303C"/>
                          </a:solidFill>
                        </a:rPr>
                        <a:t>Ground IAM</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0.65</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Ground light &lt; 1 % at 20°</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No direct source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Assumptions and defence (2/2): electrical, exergy, cost</a:t>
            </a:r>
            <a:endParaRPr lang="en-US" sz="3000" dirty="0"/>
          </a:p>
        </p:txBody>
      </p:sp>
      <p:graphicFrame>
        <p:nvGraphicFramePr>
          <p:cNvPr id="3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828800"/>
                <a:gridCol w="2377440"/>
                <a:gridCol w="3749040"/>
                <a:gridCol w="3108960"/>
              </a:tblGrid>
              <a:tr h="438912">
                <a:tc>
                  <a:txBody>
                    <a:bodyPr/>
                    <a:lstStyle/>
                    <a:p>
                      <a:pPr indent="0" marL="0">
                        <a:buNone/>
                      </a:pPr>
                      <a:r>
                        <a:rPr lang="en-US" sz="1200" b="1" dirty="0">
                          <a:solidFill>
                            <a:srgbClr val="FFFFFF"/>
                          </a:solidFill>
                        </a:rPr>
                        <a:t>Assumption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Value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Defence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200" b="1" dirty="0">
                          <a:solidFill>
                            <a:srgbClr val="FFFFFF"/>
                          </a:solidFill>
                        </a:rPr>
                        <a:t>Weak spot</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438912">
                <a:tc>
                  <a:txBody>
                    <a:bodyPr/>
                    <a:lstStyle/>
                    <a:p>
                      <a:pPr indent="0" marL="0">
                        <a:buNone/>
                      </a:pPr>
                      <a:r>
                        <a:rPr lang="en-US" sz="1200" dirty="0">
                          <a:solidFill>
                            <a:srgbClr val="22303C"/>
                          </a:solidFill>
                        </a:rPr>
                        <a:t>Wiring + mismatch</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2 %</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PVsyst ≈ 0.8 %/yr ohmic + PVWatts 2 % mismatch</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Constant, not ∝ I²</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22303C"/>
                          </a:solidFill>
                        </a:rPr>
                        <a:t>Inverter / PCS</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0.97 each</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Brief 96–98 %; ≈ 1 pt below datasheets</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No datasheet cited; no part-load curve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38912">
                <a:tc>
                  <a:txBody>
                    <a:bodyPr/>
                    <a:lstStyle/>
                    <a:p>
                      <a:pPr indent="0" marL="0">
                        <a:buNone/>
                      </a:pPr>
                      <a:r>
                        <a:rPr lang="en-US" sz="1200" dirty="0">
                          <a:solidFill>
                            <a:srgbClr val="22303C"/>
                          </a:solidFill>
                        </a:rPr>
                        <a:t>Diffuse exergy</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Grey-diluted, isotropic</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Landsberg &amp; Tonge; direction robust</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Real sky bluer; size uncertain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22303C"/>
                          </a:solidFill>
                        </a:rPr>
                        <a:t>Dead state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T₀ = hourly T_a</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Standard convention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38912">
                <a:tc>
                  <a:txBody>
                    <a:bodyPr/>
                    <a:lstStyle/>
                    <a:p>
                      <a:pPr indent="0" marL="0">
                        <a:buNone/>
                      </a:pPr>
                      <a:r>
                        <a:rPr lang="en-US" sz="1200" dirty="0">
                          <a:solidFill>
                            <a:srgbClr val="22303C"/>
                          </a:solidFill>
                        </a:rPr>
                        <a:t>Cell resistance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0.30 mΩ (MC 0.30–0.90)</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Propagated; × 3 → coverage −0.2 pt</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AC value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22303C"/>
                          </a:solidFill>
                        </a:rPr>
                        <a:t>EV demand boundary</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222 kWh/day at AC bus</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Like-for-like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Charger losses (≈ 5 %) outside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38912">
                <a:tc>
                  <a:txBody>
                    <a:bodyPr/>
                    <a:lstStyle/>
                    <a:p>
                      <a:pPr indent="0" marL="0">
                        <a:buNone/>
                      </a:pPr>
                      <a:r>
                        <a:rPr lang="en-US" sz="1200" dirty="0">
                          <a:solidFill>
                            <a:srgbClr val="22303C"/>
                          </a:solidFill>
                        </a:rPr>
                        <a:t>Prices, finance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8 % real, 25 yr</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Indicative; battery price propagated</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Drives NPV magnitude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22303C"/>
                          </a:solidFill>
                        </a:rPr>
                        <a:t>Export credit</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3 INR/kWh</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APPC-level, conservative</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200" dirty="0">
                          <a:solidFill>
                            <a:srgbClr val="22303C"/>
                          </a:solidFill>
                        </a:rPr>
                        <a:t>Sets Bengaluru PV-only NPV sign</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438912">
                <a:tc>
                  <a:txBody>
                    <a:bodyPr/>
                    <a:lstStyle/>
                    <a:p>
                      <a:pPr indent="0" marL="0">
                        <a:buNone/>
                      </a:pPr>
                      <a:r>
                        <a:rPr lang="en-US" sz="1200" dirty="0">
                          <a:solidFill>
                            <a:srgbClr val="22303C"/>
                          </a:solidFill>
                        </a:rPr>
                        <a:t>Emission factor</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0.710 t/MWh</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CEA v21 national grid</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rPr>
                        <a:t>No state factors</a:t>
                      </a:r>
                      <a:endParaRPr lang="en-US" sz="12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Limitations and next steps</a:t>
            </a:r>
            <a:endParaRPr lang="en-US" sz="3000" dirty="0"/>
          </a:p>
        </p:txBody>
      </p:sp>
      <p:sp>
        <p:nvSpPr>
          <p:cNvPr id="4" name="card Weather source"/>
          <p:cNvSpPr/>
          <p:nvPr/>
        </p:nvSpPr>
        <p:spPr>
          <a:xfrm>
            <a:off x="548640" y="1371600"/>
            <a:ext cx="3566160" cy="2057400"/>
          </a:xfrm>
          <a:prstGeom prst="roundRect">
            <a:avLst>
              <a:gd name="adj" fmla="val 3556"/>
            </a:avLst>
          </a:prstGeom>
          <a:solidFill>
            <a:srgbClr val="FBEBD3"/>
          </a:solidFill>
          <a:ln w="12700">
            <a:solidFill>
              <a:srgbClr val="FBEBD3"/>
            </a:solidFill>
            <a:prstDash val="solid"/>
          </a:ln>
        </p:spPr>
      </p:sp>
      <p:sp>
        <p:nvSpPr>
          <p:cNvPr id="5" name="cardtext Weather source"/>
          <p:cNvSpPr txBox="1"/>
          <p:nvPr/>
        </p:nvSpPr>
        <p:spPr>
          <a:xfrm>
            <a:off x="713232" y="1499616"/>
            <a:ext cx="3236976" cy="180136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Weather source</a:t>
            </a:r>
            <a:endParaRPr lang="en-US" sz="1600" dirty="0"/>
          </a:p>
          <a:p>
            <a:pPr indent="0" marL="0">
              <a:buNone/>
            </a:pPr>
            <a:r>
              <a:rPr lang="en-US" sz="1400" dirty="0">
                <a:solidFill>
                  <a:srgbClr val="2B3A47"/>
                </a:solidFill>
              </a:rPr>
              <a:t>POWER vs ERA5 differ by 21–24 % in north India and flip the coverage ranking. Next: NSRDB or Meteosat-IODC.</a:t>
            </a:r>
            <a:endParaRPr lang="en-US" sz="1600" dirty="0"/>
          </a:p>
        </p:txBody>
      </p:sp>
      <p:sp>
        <p:nvSpPr>
          <p:cNvPr id="6" name="card EV timing"/>
          <p:cNvSpPr/>
          <p:nvPr/>
        </p:nvSpPr>
        <p:spPr>
          <a:xfrm>
            <a:off x="4297680" y="1371600"/>
            <a:ext cx="3566160" cy="2057400"/>
          </a:xfrm>
          <a:prstGeom prst="roundRect">
            <a:avLst>
              <a:gd name="adj" fmla="val 3556"/>
            </a:avLst>
          </a:prstGeom>
          <a:solidFill>
            <a:srgbClr val="FBEBD3"/>
          </a:solidFill>
          <a:ln w="12700">
            <a:solidFill>
              <a:srgbClr val="FBEBD3"/>
            </a:solidFill>
            <a:prstDash val="solid"/>
          </a:ln>
        </p:spPr>
      </p:sp>
      <p:sp>
        <p:nvSpPr>
          <p:cNvPr id="7" name="cardtext EV timing"/>
          <p:cNvSpPr txBox="1"/>
          <p:nvPr/>
        </p:nvSpPr>
        <p:spPr>
          <a:xfrm>
            <a:off x="4462272" y="1499616"/>
            <a:ext cx="3236976" cy="180136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EV timing</a:t>
            </a:r>
            <a:endParaRPr lang="en-US" sz="1600" dirty="0"/>
          </a:p>
          <a:p>
            <a:pPr indent="0" marL="0">
              <a:buNone/>
            </a:pPr>
            <a:r>
              <a:rPr lang="en-US" sz="1400" dirty="0">
                <a:solidFill>
                  <a:srgbClr val="2B3A47"/>
                </a:solidFill>
              </a:rPr>
              <a:t>Korean sessions, identical every day. Indian highway/fleet charging may be more daytime-heavy.</a:t>
            </a:r>
            <a:endParaRPr lang="en-US" sz="1600" dirty="0"/>
          </a:p>
        </p:txBody>
      </p:sp>
      <p:sp>
        <p:nvSpPr>
          <p:cNvPr id="8" name="card Diffuse exergy"/>
          <p:cNvSpPr/>
          <p:nvPr/>
        </p:nvSpPr>
        <p:spPr>
          <a:xfrm>
            <a:off x="8046720" y="1371600"/>
            <a:ext cx="3566160" cy="2057400"/>
          </a:xfrm>
          <a:prstGeom prst="roundRect">
            <a:avLst>
              <a:gd name="adj" fmla="val 3556"/>
            </a:avLst>
          </a:prstGeom>
          <a:solidFill>
            <a:srgbClr val="FBEBD3"/>
          </a:solidFill>
          <a:ln w="12700">
            <a:solidFill>
              <a:srgbClr val="FBEBD3"/>
            </a:solidFill>
            <a:prstDash val="solid"/>
          </a:ln>
        </p:spPr>
      </p:sp>
      <p:sp>
        <p:nvSpPr>
          <p:cNvPr id="9" name="cardtext Diffuse exergy"/>
          <p:cNvSpPr txBox="1"/>
          <p:nvPr/>
        </p:nvSpPr>
        <p:spPr>
          <a:xfrm>
            <a:off x="8211312" y="1499616"/>
            <a:ext cx="3236976" cy="180136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Diffuse exergy</a:t>
            </a:r>
            <a:endParaRPr lang="en-US" sz="1600" dirty="0"/>
          </a:p>
          <a:p>
            <a:pPr indent="0" marL="0">
              <a:buNone/>
            </a:pPr>
            <a:r>
              <a:rPr lang="en-US" sz="1400" dirty="0">
                <a:solidFill>
                  <a:srgbClr val="2B3A47"/>
                </a:solidFill>
              </a:rPr>
              <a:t>Grey, isotropic approximation; environment term debated. Direction robust, magnitude not.</a:t>
            </a:r>
            <a:endParaRPr lang="en-US" sz="1600" dirty="0"/>
          </a:p>
        </p:txBody>
      </p:sp>
      <p:sp>
        <p:nvSpPr>
          <p:cNvPr id="10" name="card Not modelled"/>
          <p:cNvSpPr/>
          <p:nvPr/>
        </p:nvSpPr>
        <p:spPr>
          <a:xfrm>
            <a:off x="548640" y="3611880"/>
            <a:ext cx="3566160" cy="2057400"/>
          </a:xfrm>
          <a:prstGeom prst="roundRect">
            <a:avLst>
              <a:gd name="adj" fmla="val 3556"/>
            </a:avLst>
          </a:prstGeom>
          <a:solidFill>
            <a:srgbClr val="EEF3F5"/>
          </a:solidFill>
          <a:ln w="12700">
            <a:solidFill>
              <a:srgbClr val="EEF3F5"/>
            </a:solidFill>
            <a:prstDash val="solid"/>
          </a:ln>
        </p:spPr>
      </p:sp>
      <p:sp>
        <p:nvSpPr>
          <p:cNvPr id="11" name="cardtext Not modelled"/>
          <p:cNvSpPr txBox="1"/>
          <p:nvPr/>
        </p:nvSpPr>
        <p:spPr>
          <a:xfrm>
            <a:off x="713232" y="3739896"/>
            <a:ext cx="3236976" cy="180136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Not modelled</a:t>
            </a:r>
            <a:endParaRPr lang="en-US" sz="1600" dirty="0"/>
          </a:p>
          <a:p>
            <a:pPr indent="0" marL="0">
              <a:buNone/>
            </a:pPr>
            <a:r>
              <a:rPr lang="en-US" sz="1400" dirty="0">
                <a:solidFill>
                  <a:srgbClr val="2B3A47"/>
                </a:solidFill>
              </a:rPr>
              <a:t>Soiling (2–5 %/yr in Rajasthan), inverter part-load, spectral effects, calendar ageing. PR 0.86 is optimistic.</a:t>
            </a:r>
            <a:endParaRPr lang="en-US" sz="1600" dirty="0"/>
          </a:p>
        </p:txBody>
      </p:sp>
      <p:sp>
        <p:nvSpPr>
          <p:cNvPr id="12" name="card Statistics"/>
          <p:cNvSpPr/>
          <p:nvPr/>
        </p:nvSpPr>
        <p:spPr>
          <a:xfrm>
            <a:off x="4297680" y="3611880"/>
            <a:ext cx="3566160" cy="2057400"/>
          </a:xfrm>
          <a:prstGeom prst="roundRect">
            <a:avLst>
              <a:gd name="adj" fmla="val 3556"/>
            </a:avLst>
          </a:prstGeom>
          <a:solidFill>
            <a:srgbClr val="EEF3F5"/>
          </a:solidFill>
          <a:ln w="12700">
            <a:solidFill>
              <a:srgbClr val="EEF3F5"/>
            </a:solidFill>
            <a:prstDash val="solid"/>
          </a:ln>
        </p:spPr>
      </p:sp>
      <p:sp>
        <p:nvSpPr>
          <p:cNvPr id="13" name="cardtext Statistics"/>
          <p:cNvSpPr txBox="1"/>
          <p:nvPr/>
        </p:nvSpPr>
        <p:spPr>
          <a:xfrm>
            <a:off x="4462272" y="3739896"/>
            <a:ext cx="3236976" cy="180136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Statistics</a:t>
            </a:r>
            <a:endParaRPr lang="en-US" sz="1600" dirty="0"/>
          </a:p>
          <a:p>
            <a:pPr indent="0" marL="0">
              <a:buNone/>
            </a:pPr>
            <a:r>
              <a:rPr lang="en-US" sz="1400" dirty="0">
                <a:solidFill>
                  <a:srgbClr val="2B3A47"/>
                </a:solidFill>
              </a:rPr>
              <a:t>Three years, not a climatology. Uniform independent MC ranges: bounds, not calibrated probabilities.</a:t>
            </a:r>
            <a:endParaRPr lang="en-US" sz="1600" dirty="0"/>
          </a:p>
        </p:txBody>
      </p:sp>
      <p:sp>
        <p:nvSpPr>
          <p:cNvPr id="14" name="card Next checks"/>
          <p:cNvSpPr/>
          <p:nvPr/>
        </p:nvSpPr>
        <p:spPr>
          <a:xfrm>
            <a:off x="8046720" y="3611880"/>
            <a:ext cx="3566160" cy="2057400"/>
          </a:xfrm>
          <a:prstGeom prst="roundRect">
            <a:avLst>
              <a:gd name="adj" fmla="val 3556"/>
            </a:avLst>
          </a:prstGeom>
          <a:solidFill>
            <a:srgbClr val="DCEFEC"/>
          </a:solidFill>
          <a:ln w="12700">
            <a:solidFill>
              <a:srgbClr val="DCEFEC"/>
            </a:solidFill>
            <a:prstDash val="solid"/>
          </a:ln>
        </p:spPr>
      </p:sp>
      <p:sp>
        <p:nvSpPr>
          <p:cNvPr id="15" name="cardtext Next checks"/>
          <p:cNvSpPr txBox="1"/>
          <p:nvPr/>
        </p:nvSpPr>
        <p:spPr>
          <a:xfrm>
            <a:off x="8211312" y="3739896"/>
            <a:ext cx="3236976" cy="180136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Next checks</a:t>
            </a:r>
            <a:endParaRPr lang="en-US" sz="1600" dirty="0"/>
          </a:p>
          <a:p>
            <a:pPr indent="0" marL="0">
              <a:buNone/>
            </a:pPr>
            <a:r>
              <a:rPr lang="en-US" sz="1400" dirty="0">
                <a:solidFill>
                  <a:srgbClr val="2B3A47"/>
                </a:solidFill>
              </a:rPr>
              <a:t>PVGIS PVcalc yield comparison; PVGIS-6 low-light coefficients; per-city PV and battery sizing vs tariff.</a:t>
            </a:r>
            <a:endParaRPr lang="en-US" sz="1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Conclusion</a:t>
            </a:r>
            <a:endParaRPr lang="en-US" sz="4000" dirty="0"/>
          </a:p>
        </p:txBody>
      </p:sp>
      <p:sp>
        <p:nvSpPr>
          <p:cNvPr id="4" name="Text 1"/>
          <p:cNvSpPr txBox="1"/>
          <p:nvPr/>
        </p:nvSpPr>
        <p:spPr>
          <a:xfrm>
            <a:off x="731520" y="3794760"/>
            <a:ext cx="10698480" cy="23774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FFFFFF"/>
                </a:solidFill>
              </a:rPr>
              <a:t>One fixed station covers 70–80 % of a measured-timing EV load; evening demand and battery size limit it more than sunshine.</a:t>
            </a:r>
            <a:endParaRPr lang="en-US" sz="1700" dirty="0"/>
          </a:p>
          <a:p>
            <a:pPr marL="342900" indent="-342900">
              <a:spcAft>
                <a:spcPts val="1000"/>
              </a:spcAft>
              <a:buSzPct val="100000"/>
              <a:buChar char="•"/>
            </a:pPr>
            <a:r>
              <a:rPr lang="en-US" sz="1700" dirty="0">
                <a:solidFill>
                  <a:srgbClr val="FFFFFF"/>
                </a:solidFill>
              </a:rPr>
              <a:t>The PV cell destroys ≈ 98 % of the exergy; the rest of the chain is nearly reversible.</a:t>
            </a:r>
            <a:endParaRPr lang="en-US" sz="1700" dirty="0"/>
          </a:p>
          <a:p>
            <a:pPr marL="342900" indent="-342900">
              <a:spcAft>
                <a:spcPts val="1000"/>
              </a:spcAft>
              <a:buSzPct val="100000"/>
              <a:buChar char="•"/>
            </a:pPr>
            <a:r>
              <a:rPr lang="en-US" sz="1700" dirty="0">
                <a:solidFill>
                  <a:srgbClr val="FFFFFF"/>
                </a:solidFill>
              </a:rPr>
              <a:t>Diffuse light lowers the quantity and the quality of solar input: ψ_PV rises in cloudy weather, and the sunniest city has the lowest exergy efficiency.</a:t>
            </a:r>
            <a:endParaRPr lang="en-US" sz="1700" dirty="0"/>
          </a:p>
          <a:p>
            <a:pPr marL="342900" indent="-342900">
              <a:buSzPct val="100000"/>
              <a:buChar char="•"/>
            </a:pPr>
            <a:r>
              <a:rPr lang="en-US" sz="1700" dirty="0">
                <a:solidFill>
                  <a:srgbClr val="FFFFFF"/>
                </a:solidFill>
              </a:rPr>
              <a:t>Economics follow the tariff: PV pays everywhere, the battery nowhere at current prices. Size per city.</a:t>
            </a:r>
            <a:endParaRPr lang="en-US" sz="1700" dirty="0"/>
          </a:p>
        </p:txBody>
      </p:sp>
      <p:sp>
        <p:nvSpPr>
          <p:cNvPr id="5" name="Text 0"/>
          <p:cNvSpPr/>
          <p:nvPr>
            <p:ph idx="101" type="body" hasCustomPrompt="1"/>
          </p:nvPr>
        </p:nvSpPr>
        <p:spPr>
          <a:xfrm>
            <a:off x="731520" y="3703320"/>
            <a:ext cx="10698480" cy="9144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AB8C9"/>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8288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Questions</a:t>
            </a:r>
            <a:endParaRPr lang="en-US" sz="4000" dirty="0"/>
          </a:p>
        </p:txBody>
      </p:sp>
      <p:sp>
        <p:nvSpPr>
          <p:cNvPr id="4" name="Text 0"/>
          <p:cNvSpPr/>
          <p:nvPr>
            <p:ph idx="101" type="body" hasCustomPrompt="1"/>
          </p:nvPr>
        </p:nvSpPr>
        <p:spPr>
          <a:xfrm>
            <a:off x="731520" y="3886200"/>
            <a:ext cx="10698480" cy="1463040"/>
          </a:xfrm>
          <a:prstGeom prst="rect">
            <a:avLst/>
          </a:prstGeom>
          <a:noFill/>
          <a:ln/>
        </p:spPr>
        <p:txBody>
          <a:bodyPr wrap="square" lIns="0" tIns="0" rIns="0" bIns="0" rtlCol="0" anchor="t"/>
          <a:lstStyle/>
          <a:p>
            <a:pPr indent="0" marL="0">
              <a:buNone/>
            </a:pPr>
            <a:r>
              <a:rPr lang="en-US" sz="1800" dirty="0">
                <a:solidFill>
                  <a:srgbClr val="C9D6DF"/>
                </a:solidFill>
              </a:rPr>
              <a:t>Code, data and figures: thermo_project · run main (≈ 25 min) · source = 'ERA5'; main for the cross-check</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Backup: Petela derivation and the diluted-radiation factor</a:t>
            </a:r>
            <a:endParaRPr lang="en-US" sz="3000" dirty="0"/>
          </a:p>
        </p:txBody>
      </p:sp>
      <p:sp>
        <p:nvSpPr>
          <p:cNvPr id="4" name="eqbg"/>
          <p:cNvSpPr/>
          <p:nvPr/>
        </p:nvSpPr>
        <p:spPr>
          <a:xfrm>
            <a:off x="548640" y="1371600"/>
            <a:ext cx="11064240" cy="3017520"/>
          </a:xfrm>
          <a:prstGeom prst="roundRect">
            <a:avLst>
              <a:gd name="adj" fmla="val 1818"/>
            </a:avLst>
          </a:prstGeom>
          <a:solidFill>
            <a:srgbClr val="F3F5F7"/>
          </a:solidFill>
          <a:ln w="12700">
            <a:solidFill>
              <a:srgbClr val="DDE3E8"/>
            </a:solidFill>
            <a:prstDash val="solid"/>
          </a:ln>
        </p:spPr>
      </p:sp>
      <p:sp>
        <p:nvSpPr>
          <p:cNvPr id="5" name="equation"/>
          <p:cNvSpPr txBox="1"/>
          <p:nvPr/>
        </p:nvSpPr>
        <p:spPr>
          <a:xfrm>
            <a:off x="731520" y="1463040"/>
            <a:ext cx="10698480" cy="2834640"/>
          </a:xfrm>
          <a:prstGeom prst="rect">
            <a:avLst/>
          </a:prstGeom>
          <a:noFill/>
          <a:ln/>
        </p:spPr>
        <p:txBody>
          <a:bodyPr wrap="square" lIns="0" tIns="0" rIns="0" bIns="0" rtlCol="0" anchor="ctr"/>
          <a:lstStyle/>
          <a:p>
            <a:pPr indent="0" marL="0">
              <a:spcAft>
                <a:spcPts val="400"/>
              </a:spcAft>
              <a:buNone/>
            </a:pPr>
            <a:r>
              <a:rPr lang="en-US" sz="1600" dirty="0">
                <a:solidFill>
                  <a:srgbClr val="18232F"/>
                </a:solidFill>
                <a:latin typeface="Cambria" pitchFamily="34" charset="0"/>
                <a:ea typeface="Cambria" pitchFamily="34" charset="-122"/>
                <a:cs typeface="Cambria" pitchFamily="34" charset="-120"/>
              </a:rPr>
              <a:t>Blackbody at T:  E = σT⁴,   S = (4/3)σT³;   environment:  E₀ = σT₀⁴,  S₀ = (4/3)σT₀³</a:t>
            </a:r>
            <a:endParaRPr lang="en-US" sz="1600" dirty="0"/>
          </a:p>
          <a:p>
            <a:pPr indent="0" marL="0">
              <a:spcAft>
                <a:spcPts val="400"/>
              </a:spcAft>
              <a:buNone/>
            </a:pPr>
            <a:r>
              <a:rPr lang="en-US" sz="1600" dirty="0">
                <a:solidFill>
                  <a:srgbClr val="18232F"/>
                </a:solidFill>
                <a:latin typeface="Cambria" pitchFamily="34" charset="0"/>
                <a:ea typeface="Cambria" pitchFamily="34" charset="-122"/>
                <a:cs typeface="Cambria" pitchFamily="34" charset="-120"/>
              </a:rPr>
              <a:t>Ex = (E − E₀) − T₀(S − S₀) = σT⁴ − (4/3)σT₀T³ + (1/3)σT₀⁴</a:t>
            </a:r>
            <a:endParaRPr lang="en-US" sz="1600" dirty="0"/>
          </a:p>
          <a:p>
            <a:pPr indent="0" marL="0">
              <a:spcAft>
                <a:spcPts val="400"/>
              </a:spcAft>
              <a:buNone/>
            </a:pPr>
            <a:r>
              <a:rPr lang="en-US" sz="1600" dirty="0">
                <a:solidFill>
                  <a:srgbClr val="18232F"/>
                </a:solidFill>
                <a:latin typeface="Cambria" pitchFamily="34" charset="0"/>
                <a:ea typeface="Cambria" pitchFamily="34" charset="-122"/>
                <a:cs typeface="Cambria" pitchFamily="34" charset="-120"/>
              </a:rPr>
              <a:t>Ex/E = 1 − (4/3)(T₀/T) + (1/3)(T₀/T)⁴ = 1 − 0.06923 + 0.0000024 = 0.9308</a:t>
            </a:r>
            <a:endParaRPr lang="en-US" sz="1600" dirty="0"/>
          </a:p>
          <a:p>
            <a:pPr indent="0" marL="0">
              <a:spcAft>
                <a:spcPts val="400"/>
              </a:spcAft>
              <a:buNone/>
            </a:pPr>
            <a:r>
              <a:rPr lang="en-US" sz="1600" dirty="0">
                <a:solidFill>
                  <a:srgbClr val="18232F"/>
                </a:solidFill>
                <a:latin typeface="Cambria" pitchFamily="34" charset="0"/>
                <a:ea typeface="Cambria" pitchFamily="34" charset="-122"/>
                <a:cs typeface="Cambria" pitchFamily="34" charset="-120"/>
              </a:rPr>
              <a:t>Diluted (radiance εB_ν(T_s)):  S = (4/3)εσT_s³ X(ε),  E = εσT_s⁴  ⇒  ψ = 1 − (4/3)(T₀/T_s)X(ε)</a:t>
            </a:r>
            <a:endParaRPr lang="en-US" sz="1600" dirty="0"/>
          </a:p>
          <a:p>
            <a:pPr indent="0" marL="0">
              <a:spcAft>
                <a:spcPts val="400"/>
              </a:spcAft>
              <a:buNone/>
            </a:pPr>
            <a:r>
              <a:rPr lang="en-US" sz="1600" dirty="0">
                <a:solidFill>
                  <a:srgbClr val="18232F"/>
                </a:solidFill>
                <a:latin typeface="Cambria" pitchFamily="34" charset="0"/>
                <a:ea typeface="Cambria" pitchFamily="34" charset="-122"/>
                <a:cs typeface="Cambria" pitchFamily="34" charset="-120"/>
              </a:rPr>
              <a:t>ε_d = G_d / [σT_s⁴ (1+cos β)/2] ≈ 10⁻⁶ – 10⁻⁵  ⇒  ψ ≈ 0.67 – 0.71</a:t>
            </a:r>
            <a:endParaRPr lang="en-US" sz="1600" dirty="0"/>
          </a:p>
        </p:txBody>
      </p:sp>
      <p:sp>
        <p:nvSpPr>
          <p:cNvPr id="6" name="body"/>
          <p:cNvSpPr txBox="1"/>
          <p:nvPr/>
        </p:nvSpPr>
        <p:spPr>
          <a:xfrm>
            <a:off x="548640" y="4663440"/>
            <a:ext cx="11064240" cy="10972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B3A47"/>
                </a:solidFill>
              </a:rPr>
              <a:t>X(1) = 1 recovers Petela; X rises as light is spread over more solid angle (more entropy per joule)</a:t>
            </a:r>
            <a:endParaRPr lang="en-US" sz="1500" dirty="0"/>
          </a:p>
          <a:p>
            <a:pPr marL="203200" indent="-203200">
              <a:spcAft>
                <a:spcPts val="800"/>
              </a:spcAft>
              <a:buSzPct val="100000"/>
              <a:buChar char="•"/>
            </a:pPr>
            <a:r>
              <a:rPr lang="en-US" sz="1500" dirty="0">
                <a:solidFill>
                  <a:srgbClr val="2B3A47"/>
                </a:solidFill>
              </a:rPr>
              <a:t>Petela environment term (&lt; 10⁻⁵) omitted for diluted light, where it is not well defined</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Backup: design checks (tilt, series layout, wiring loss)</a:t>
            </a:r>
            <a:endParaRPr lang="en-US" sz="3000" dirty="0"/>
          </a:p>
        </p:txBody>
      </p:sp>
      <p:graphicFrame>
        <p:nvGraphicFramePr>
          <p:cNvPr id="38"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5760720" cy="914400"/>
        </p:xfrm>
        <a:graphic>
          <a:graphicData uri="http://schemas.openxmlformats.org/drawingml/2006/table">
            <a:tbl>
              <a:tblPr/>
              <a:tblGrid>
                <a:gridCol w="1645920"/>
                <a:gridCol w="1097280"/>
                <a:gridCol w="1097280"/>
                <a:gridCol w="1005840"/>
                <a:gridCol w="914400"/>
              </a:tblGrid>
              <a:tr h="384048">
                <a:tc>
                  <a:txBody>
                    <a:bodyPr/>
                    <a:lstStyle/>
                    <a:p>
                      <a:pPr indent="0" marL="0">
                        <a:buNone/>
                      </a:pPr>
                      <a:r>
                        <a:rPr lang="en-US" sz="1300" b="1" dirty="0">
                          <a:solidFill>
                            <a:srgbClr val="FFFFFF"/>
                          </a:solidFill>
                        </a:rPr>
                        <a:t>City</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Optimum tilt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POA optimum</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POA at 20°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Loss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384048">
                <a:tc>
                  <a:txBody>
                    <a:bodyPr/>
                    <a:lstStyle/>
                    <a:p>
                      <a:pPr indent="0" marL="0">
                        <a:buNone/>
                      </a:pPr>
                      <a:r>
                        <a:rPr lang="en-US" sz="1300" dirty="0">
                          <a:solidFill>
                            <a:srgbClr val="22303C"/>
                          </a:solidFill>
                        </a:rPr>
                        <a:t>Jodhpur 26.3°N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28°</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2,090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2,076</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0.67 %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303C"/>
                          </a:solidFill>
                        </a:rPr>
                        <a:t>Bengaluru 13.0°N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14°</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1,752</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1,745</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0.40 %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384048">
                <a:tc>
                  <a:txBody>
                    <a:bodyPr/>
                    <a:lstStyle/>
                    <a:p>
                      <a:pPr indent="0" marL="0">
                        <a:buNone/>
                      </a:pPr>
                      <a:r>
                        <a:rPr lang="en-US" sz="1300" dirty="0">
                          <a:solidFill>
                            <a:srgbClr val="22303C"/>
                          </a:solidFill>
                        </a:rPr>
                        <a:t>Guwahati 26.2°N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28°</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1,677</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1,662</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0.86 %</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bl>
          </a:graphicData>
        </a:graphic>
      </p:graphicFrame>
      <p:graphicFrame>
        <p:nvGraphicFramePr>
          <p:cNvPr id="75" name="table"/>
          <p:cNvGraphicFramePr>
            <a:graphicFrameLocks noGrp="1"/>
          </p:cNvGraphicFramePr>
          <p:nvPr>
            <p:extLst>
              <p:ext uri="{D42A27DB-BD31-4B8C-83A1-F6EECF244321}">
                <p14:modId xmlns:p14="http://schemas.microsoft.com/office/powerpoint/2010/main" val="1579011935"/>
              </p:ext>
            </p:extLst>
          </p:nvPr>
        </p:nvGraphicFramePr>
        <p:xfrm>
          <a:off x="6583680" y="1371600"/>
          <a:ext cx="5029200" cy="914400"/>
        </p:xfrm>
        <a:graphic>
          <a:graphicData uri="http://schemas.openxmlformats.org/drawingml/2006/table">
            <a:tbl>
              <a:tblPr/>
              <a:tblGrid>
                <a:gridCol w="1371600"/>
                <a:gridCol w="822960"/>
                <a:gridCol w="1097280"/>
                <a:gridCol w="914400"/>
                <a:gridCol w="822960"/>
              </a:tblGrid>
              <a:tr h="384048">
                <a:tc>
                  <a:txBody>
                    <a:bodyPr/>
                    <a:lstStyle/>
                    <a:p>
                      <a:pPr indent="0" marL="0">
                        <a:buNone/>
                      </a:pPr>
                      <a:r>
                        <a:rPr lang="en-US" sz="1300" b="1" dirty="0">
                          <a:solidFill>
                            <a:srgbClr val="FFFFFF"/>
                          </a:solidFill>
                        </a:rPr>
                        <a:t>Layout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V</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I at 46.6 kW</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R_pack</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Cell I²R</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384048">
                <a:tc>
                  <a:txBody>
                    <a:bodyPr/>
                    <a:lstStyle/>
                    <a:p>
                      <a:pPr indent="0" marL="0">
                        <a:buNone/>
                      </a:pPr>
                      <a:r>
                        <a:rPr lang="en-US" sz="1300" dirty="0">
                          <a:solidFill>
                            <a:srgbClr val="22303C"/>
                          </a:solidFill>
                        </a:rPr>
                        <a:t>1P104S (used)</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333 V</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140 A</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31.2 mΩ</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611 W</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303C"/>
                          </a:solidFill>
                        </a:rPr>
                        <a:t>2P52S</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166 V</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280 A</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7.8 mΩ</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611 W</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bl>
          </a:graphicData>
        </a:graphic>
      </p:graphicFrame>
      <p:sp>
        <p:nvSpPr>
          <p:cNvPr id="6" name="card Wiring + mismatch 2 %"/>
          <p:cNvSpPr/>
          <p:nvPr/>
        </p:nvSpPr>
        <p:spPr>
          <a:xfrm>
            <a:off x="548640" y="3200400"/>
            <a:ext cx="5760720" cy="2423160"/>
          </a:xfrm>
          <a:prstGeom prst="roundRect">
            <a:avLst>
              <a:gd name="adj" fmla="val 3019"/>
            </a:avLst>
          </a:prstGeom>
          <a:solidFill>
            <a:srgbClr val="EEF3F5"/>
          </a:solidFill>
          <a:ln w="12700">
            <a:solidFill>
              <a:srgbClr val="EEF3F5"/>
            </a:solidFill>
            <a:prstDash val="solid"/>
          </a:ln>
        </p:spPr>
      </p:sp>
      <p:sp>
        <p:nvSpPr>
          <p:cNvPr id="7" name="cardtext Wiring + mismatch 2 %"/>
          <p:cNvSpPr txBox="1"/>
          <p:nvPr/>
        </p:nvSpPr>
        <p:spPr>
          <a:xfrm>
            <a:off x="713232" y="3328416"/>
            <a:ext cx="5431536" cy="216712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Wiring + mismatch 2 %</a:t>
            </a:r>
            <a:endParaRPr lang="en-US" sz="1600" dirty="0"/>
          </a:p>
          <a:p>
            <a:pPr indent="0" marL="0">
              <a:buNone/>
            </a:pPr>
            <a:r>
              <a:rPr lang="en-US" sz="1300" dirty="0">
                <a:solidFill>
                  <a:srgbClr val="2B3A47"/>
                </a:solidFill>
              </a:rPr>
              <a:t>Ohmic: design keeps DC voltage drop &lt; 1 % ideally, ≤ 2 %; PVsyst 1.5 % at STC → ≈ 0.8 % annual.</a:t>
            </a:r>
            <a:endParaRPr lang="en-US" sz="1600" dirty="0"/>
          </a:p>
          <a:p>
            <a:pPr indent="0" marL="0">
              <a:buNone/>
            </a:pPr>
            <a:r>
              <a:rPr lang="en-US" sz="1300" dirty="0">
                <a:solidFill>
                  <a:srgbClr val="2B3A47"/>
                </a:solidFill>
              </a:rPr>
              <a:t>Mismatch: PVWatts derate 0.98; Aurora default 2 %.</a:t>
            </a:r>
            <a:endParaRPr lang="en-US" sz="1600" dirty="0"/>
          </a:p>
          <a:p>
            <a:pPr indent="0" marL="0">
              <a:buNone/>
            </a:pPr>
            <a:r>
              <a:rPr lang="en-US" sz="1300" dirty="0">
                <a:solidFill>
                  <a:srgbClr val="2B3A47"/>
                </a:solidFill>
              </a:rPr>
              <a:t>Sum 1.8–2.8 %. Do not cite MNRE 2017 (60 V DC systems).</a:t>
            </a:r>
            <a:endParaRPr lang="en-US" sz="1600" dirty="0"/>
          </a:p>
        </p:txBody>
      </p:sp>
      <p:sp>
        <p:nvSpPr>
          <p:cNvPr id="8" name="card Battery paths"/>
          <p:cNvSpPr/>
          <p:nvPr/>
        </p:nvSpPr>
        <p:spPr>
          <a:xfrm>
            <a:off x="6583680" y="3200400"/>
            <a:ext cx="5029200" cy="2423160"/>
          </a:xfrm>
          <a:prstGeom prst="roundRect">
            <a:avLst>
              <a:gd name="adj" fmla="val 3019"/>
            </a:avLst>
          </a:prstGeom>
          <a:solidFill>
            <a:srgbClr val="EEF3F5"/>
          </a:solidFill>
          <a:ln w="12700">
            <a:solidFill>
              <a:srgbClr val="EEF3F5"/>
            </a:solidFill>
            <a:prstDash val="solid"/>
          </a:ln>
        </p:spPr>
      </p:sp>
      <p:sp>
        <p:nvSpPr>
          <p:cNvPr id="9" name="cardtext Battery paths"/>
          <p:cNvSpPr txBox="1"/>
          <p:nvPr/>
        </p:nvSpPr>
        <p:spPr>
          <a:xfrm>
            <a:off x="6748272" y="3328416"/>
            <a:ext cx="4700016" cy="2167128"/>
          </a:xfrm>
          <a:prstGeom prst="rect">
            <a:avLst/>
          </a:prstGeom>
          <a:noFill/>
          <a:ln/>
        </p:spPr>
        <p:txBody>
          <a:bodyPr wrap="square" lIns="0" tIns="0" rIns="0" bIns="0" rtlCol="0" anchor="t"/>
          <a:lstStyle/>
          <a:p>
            <a:pPr indent="0" marL="0">
              <a:spcAft>
                <a:spcPts val="600"/>
              </a:spcAft>
              <a:buNone/>
            </a:pPr>
            <a:r>
              <a:rPr lang="en-US" sz="1600" b="1" dirty="0">
                <a:solidFill>
                  <a:srgbClr val="18232F"/>
                </a:solidFill>
              </a:rPr>
              <a:t>Battery paths</a:t>
            </a:r>
            <a:endParaRPr lang="en-US" sz="1600" dirty="0"/>
          </a:p>
          <a:p>
            <a:pPr indent="0" marL="0">
              <a:buNone/>
            </a:pPr>
            <a:r>
              <a:rPr lang="en-US" sz="1300" dirty="0">
                <a:solidFill>
                  <a:srgbClr val="2B3A47"/>
                </a:solidFill>
              </a:rPr>
              <a:t>PV → EV direct: 0.98 × 0.97 = 0.951.</a:t>
            </a:r>
            <a:endParaRPr lang="en-US" sz="1600" dirty="0"/>
          </a:p>
          <a:p>
            <a:pPr indent="0" marL="0">
              <a:buNone/>
            </a:pPr>
            <a:r>
              <a:rPr lang="en-US" sz="1300" dirty="0">
                <a:solidFill>
                  <a:srgbClr val="2B3A47"/>
                </a:solidFill>
              </a:rPr>
              <a:t>PV → battery → EV: ≈ 0.87.</a:t>
            </a:r>
            <a:endParaRPr lang="en-US" sz="1600" dirty="0"/>
          </a:p>
          <a:p>
            <a:pPr indent="0" marL="0">
              <a:buNone/>
            </a:pPr>
            <a:r>
              <a:rPr lang="en-US" sz="1300" dirty="0">
                <a:solidFill>
                  <a:srgbClr val="2B3A47"/>
                </a:solidFill>
              </a:rPr>
              <a:t>AC→AC round trip in simulation ≈ 0.93 (PCS 0.97² × cells ≈ 0.99).</a:t>
            </a:r>
            <a:endParaRPr lang="en-US" sz="1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Backup: corrections made during preparation</a:t>
            </a:r>
            <a:endParaRPr lang="en-US" sz="3000" dirty="0"/>
          </a:p>
        </p:txBody>
      </p:sp>
      <p:graphicFrame>
        <p:nvGraphicFramePr>
          <p:cNvPr id="3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572000"/>
                <a:gridCol w="6492240"/>
              </a:tblGrid>
              <a:tr h="502920">
                <a:tc>
                  <a:txBody>
                    <a:bodyPr/>
                    <a:lstStyle/>
                    <a:p>
                      <a:pPr indent="0" marL="0">
                        <a:buNone/>
                      </a:pPr>
                      <a:r>
                        <a:rPr lang="en-US" sz="1300" b="1" dirty="0">
                          <a:solidFill>
                            <a:srgbClr val="FFFFFF"/>
                          </a:solidFill>
                        </a:rPr>
                        <a:t>Earlier statement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c>
                  <a:txBody>
                    <a:bodyPr/>
                    <a:lstStyle/>
                    <a:p>
                      <a:pPr indent="0" marL="0">
                        <a:buNone/>
                      </a:pPr>
                      <a:r>
                        <a:rPr lang="en-US" sz="1300" b="1" dirty="0">
                          <a:solidFill>
                            <a:srgbClr val="FFFFFF"/>
                          </a:solidFill>
                        </a:rPr>
                        <a:t>Correct version</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22384B"/>
                    </a:solidFill>
                  </a:tcPr>
                </a:tc>
              </a:tr>
              <a:tr h="502920">
                <a:tc>
                  <a:txBody>
                    <a:bodyPr/>
                    <a:lstStyle/>
                    <a:p>
                      <a:pPr indent="0" marL="0">
                        <a:buNone/>
                      </a:pPr>
                      <a:r>
                        <a:rPr lang="en-US" sz="1300" dirty="0">
                          <a:solidFill>
                            <a:srgbClr val="22303C"/>
                          </a:solidFill>
                        </a:rPr>
                        <a:t>Cell temperature uses T_c = T_a + (NOCT − 20)G/800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Main model is the convection + radiation balance calibrated to NOCT; NOCT formula is a sensitivity case</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22303C"/>
                          </a:solidFill>
                        </a:rPr>
                        <a:t>Solar exergy uses Petela (0.93) for all light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Beam 0.93; diffuse and ground light diluted, 0.67–0.80</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502920">
                <a:tc>
                  <a:txBody>
                    <a:bodyPr/>
                    <a:lstStyle/>
                    <a:p>
                      <a:pPr indent="0" marL="0">
                        <a:buNone/>
                      </a:pPr>
                      <a:r>
                        <a:rPr lang="en-US" sz="1300" dirty="0">
                          <a:solidFill>
                            <a:srgbClr val="22303C"/>
                          </a:solidFill>
                        </a:rPr>
                        <a:t>Checkpoint 2: ψ_PV &lt; η_PV</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ψ_PV &gt; η_PV always, since Ex_in &lt; A·G</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22303C"/>
                          </a:solidFill>
                        </a:rPr>
                        <a:t>Jodhpur noon cells ≈ 60–64 °C</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 50–57 °C depending on wind; annual peak 67.1 °C</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502920">
                <a:tc>
                  <a:txBody>
                    <a:bodyPr/>
                    <a:lstStyle/>
                    <a:p>
                      <a:pPr indent="0" marL="0">
                        <a:buNone/>
                      </a:pPr>
                      <a:r>
                        <a:rPr lang="en-US" sz="1300" dirty="0">
                          <a:solidFill>
                            <a:srgbClr val="22303C"/>
                          </a:solidFill>
                        </a:rPr>
                        <a:t>PV-only NPV positive in every city</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PV-only LCOE &lt; tariff everywhere; PV-only NPV −2.5 lakh in Bengaluru</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22303C"/>
                          </a:solidFill>
                        </a:rPr>
                        <a:t>Huld 2011 in "Solar Energy 85"</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c>
                  <a:txBody>
                    <a:bodyPr/>
                    <a:lstStyle/>
                    <a:p>
                      <a:pPr indent="0" marL="0">
                        <a:buNone/>
                      </a:pPr>
                      <a:r>
                        <a:rPr lang="en-US" sz="1300" dirty="0">
                          <a:solidFill>
                            <a:srgbClr val="22303C"/>
                          </a:solidFill>
                        </a:rPr>
                        <a:t>Sol. Energy Mater. Sol. Cells 95, 3359–3369</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4F7F9"/>
                    </a:solidFill>
                  </a:tcPr>
                </a:tc>
              </a:tr>
              <a:tr h="502920">
                <a:tc>
                  <a:txBody>
                    <a:bodyPr/>
                    <a:lstStyle/>
                    <a:p>
                      <a:pPr indent="0" marL="0">
                        <a:buNone/>
                      </a:pPr>
                      <a:r>
                        <a:rPr lang="en-US" sz="1300" dirty="0">
                          <a:solidFill>
                            <a:srgbClr val="22303C"/>
                          </a:solidFill>
                        </a:rPr>
                        <a:t>"Climate leaves conversion quality unchanged"</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22303C"/>
                          </a:solidFill>
                        </a:rPr>
                        <a:t>Artefact of the all-Petela model; ψ spread is 1.1 pt</a:t>
                      </a:r>
                      <a:endParaRPr lang="en-US" sz="1300" dirty="0"/>
                    </a:p>
                  </a:txBody>
                  <a:tcPr marL="76200" marR="76200" marT="38100" marB="3810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rgbClr val="18232F"/>
                </a:solidFill>
                <a:latin typeface="Cambria" pitchFamily="34" charset="0"/>
                <a:ea typeface="Cambria" pitchFamily="34" charset="-122"/>
                <a:cs typeface="Cambria" pitchFamily="34" charset="-120"/>
              </a:rPr>
              <a:t>Backup: sources</a:t>
            </a:r>
            <a:endParaRPr lang="en-US" sz="3000" dirty="0"/>
          </a:p>
        </p:txBody>
      </p:sp>
      <p:sp>
        <p:nvSpPr>
          <p:cNvPr id="4" name="body"/>
          <p:cNvSpPr txBox="1"/>
          <p:nvPr/>
        </p:nvSpPr>
        <p:spPr>
          <a:xfrm>
            <a:off x="548640" y="1325880"/>
            <a:ext cx="11064240" cy="484632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2B3A47"/>
                </a:solidFill>
              </a:rPr>
              <a:t>Petela (1964) J. Heat Transfer 86, 187–192 · Landsberg &amp; Tonge (1979) J. Phys. A 12, 551–562</a:t>
            </a:r>
            <a:endParaRPr lang="en-US" sz="1400" dirty="0"/>
          </a:p>
          <a:p>
            <a:pPr marL="203200" indent="-203200">
              <a:spcAft>
                <a:spcPts val="1000"/>
              </a:spcAft>
              <a:buSzPct val="100000"/>
              <a:buChar char="•"/>
            </a:pPr>
            <a:r>
              <a:rPr lang="en-US" sz="1400" dirty="0">
                <a:solidFill>
                  <a:srgbClr val="2B3A47"/>
                </a:solidFill>
              </a:rPr>
              <a:t>Huld et al. (2011) Sol. Energy Mater. Sol. Cells 95, 3359–3369 · Chatzipanagi et al. (2025) Prog. Photovolt. 33, 905–917</a:t>
            </a:r>
            <a:endParaRPr lang="en-US" sz="1400" dirty="0"/>
          </a:p>
          <a:p>
            <a:pPr marL="203200" indent="-203200">
              <a:spcAft>
                <a:spcPts val="1000"/>
              </a:spcAft>
              <a:buSzPct val="100000"/>
              <a:buChar char="•"/>
            </a:pPr>
            <a:r>
              <a:rPr lang="en-US" sz="1400" dirty="0">
                <a:solidFill>
                  <a:srgbClr val="2B3A47"/>
                </a:solidFill>
              </a:rPr>
              <a:t>Duffie &amp; Beckman, Solar Engineering of Thermal Processes (4th ed.) · Hay &amp; Davies (1980) · Martin &amp; Ruiz (2001) Sol. Energy Mater. Sol. Cells 70</a:t>
            </a:r>
            <a:endParaRPr lang="en-US" sz="1400" dirty="0"/>
          </a:p>
          <a:p>
            <a:pPr marL="203200" indent="-203200">
              <a:spcAft>
                <a:spcPts val="1000"/>
              </a:spcAft>
              <a:buSzPct val="100000"/>
              <a:buChar char="•"/>
            </a:pPr>
            <a:r>
              <a:rPr lang="en-US" sz="1400" dirty="0">
                <a:solidFill>
                  <a:srgbClr val="2B3A47"/>
                </a:solidFill>
              </a:rPr>
              <a:t>Jones &amp; Underwood (2001) Solar Energy 70, 349–359 · Swinbank (1963) QJRMS 89 · Watmuff, Charters &amp; Proctor (1977) COMPLES 2</a:t>
            </a:r>
            <a:endParaRPr lang="en-US" sz="1400" dirty="0"/>
          </a:p>
          <a:p>
            <a:pPr marL="203200" indent="-203200">
              <a:spcAft>
                <a:spcPts val="1000"/>
              </a:spcAft>
              <a:buSzPct val="100000"/>
              <a:buChar char="•"/>
            </a:pPr>
            <a:r>
              <a:rPr lang="en-US" sz="1400" dirty="0">
                <a:solidFill>
                  <a:srgbClr val="2B3A47"/>
                </a:solidFill>
              </a:rPr>
              <a:t>Bejan, Advanced Engineering Thermodynamics · Wang et al. (2011) J. Power Sources 196, 3942–3948</a:t>
            </a:r>
            <a:endParaRPr lang="en-US" sz="1400" dirty="0"/>
          </a:p>
          <a:p>
            <a:pPr marL="203200" indent="-203200">
              <a:spcAft>
                <a:spcPts val="1000"/>
              </a:spcAft>
              <a:buSzPct val="100000"/>
              <a:buChar char="•"/>
            </a:pPr>
            <a:r>
              <a:rPr lang="en-US" sz="1400" dirty="0">
                <a:solidFill>
                  <a:srgbClr val="2B3A47"/>
                </a:solidFill>
              </a:rPr>
              <a:t>NASA POWER hourly API (CERES SYN1deg, MERRA-2) · PVGIS-ERA5 · EV sessions: Scientific Data 2024, doi:10.6084/m9.figshare.22495141</a:t>
            </a:r>
            <a:endParaRPr lang="en-US" sz="1400" dirty="0"/>
          </a:p>
          <a:p>
            <a:pPr marL="203200" indent="-203200">
              <a:spcAft>
                <a:spcPts val="1000"/>
              </a:spcAft>
              <a:buSzPct val="100000"/>
              <a:buChar char="•"/>
            </a:pPr>
            <a:r>
              <a:rPr lang="en-US" sz="1400" dirty="0">
                <a:solidFill>
                  <a:srgbClr val="2B3A47"/>
                </a:solidFill>
              </a:rPr>
              <a:t>Trina NE19R datasheet DT-M-0093-B · REPT ESS brochure · CEA CO₂ Baseline Database v21 · APDCL, KERC, RERC EV tariffs</a:t>
            </a:r>
            <a:endParaRPr lang="en-US" sz="1400" dirty="0"/>
          </a:p>
          <a:p>
            <a:pPr marL="203200" indent="-203200">
              <a:spcAft>
                <a:spcPts val="1000"/>
              </a:spcAft>
              <a:buSzPct val="100000"/>
              <a:buChar char="•"/>
            </a:pPr>
            <a:r>
              <a:rPr lang="en-US" sz="1400" dirty="0">
                <a:solidFill>
                  <a:srgbClr val="2B3A47"/>
                </a:solidFill>
              </a:rPr>
              <a:t>PVsyst ohmic-loss help · PVWatts v5 manual (Dobos 2014)</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796A3"/>
                </a:solidFill>
              </a:defRPr>
            </a:lvl1pPr>
          </a:lstStyle>
          <a:p>
            <a:pPr algn="r"/>
            <a:fld id="{F7021451-1387-4CA6-816F-3879F97B5CBC}" type="slidenum">
              <a:rPr b="0" lang="en-US"/>
              <a:t>39</a:t>
            </a:fld>
            <a:endParaRPr lang="en-US"/>
          </a:p>
        </p:txBody>
      </p:sp>
    </p:spTree>
  </p:cSld>
  <p:clrMapOvr>
    <a:masterClrMapping/>
  </p:clrMapOvr>
</p:sld>
</file>

<file path=ppt/theme/theme1.xml><?xml version="1.0" encoding="utf-8"?>
<a:theme xmlns:a="http://schemas.openxmlformats.org/drawingml/2006/main" name="Solar Exergy">
  <a:themeElements>
    <a:clrScheme name="Solar Exergy">
      <a:dk1>
        <a:srgbClr val="18232F"/>
      </a:dk1>
      <a:lt1>
        <a:srgbClr val="FFFFFF"/>
      </a:lt1>
      <a:dk2>
        <a:srgbClr val="22384B"/>
      </a:dk2>
      <a:lt2>
        <a:srgbClr val="EEF3F5"/>
      </a:lt2>
      <a:accent1>
        <a:srgbClr val="E8962E"/>
      </a:accent1>
      <a:accent2>
        <a:srgbClr val="2A8C82"/>
      </a:accent2>
      <a:accent3>
        <a:srgbClr val="C44536"/>
      </a:accent3>
      <a:accent4>
        <a:srgbClr val="5B7A99"/>
      </a:accent4>
      <a:accent5>
        <a:srgbClr val="9AB8C9"/>
      </a:accent5>
      <a:accent6>
        <a:srgbClr val="F4D58D"/>
      </a:accent6>
      <a:hlink>
        <a:srgbClr val="2A8C82"/>
      </a:hlink>
      <a:folHlink>
        <a:srgbClr val="5B7A99"/>
      </a:folHlink>
    </a:clrScheme>
    <a:fontScheme name="Solar Exerg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EV Charging Station: Thermodynamic Feasibility</dc:title>
  <dc:subject>PptxGenJS Presentation</dc:subject>
  <dc:creator>Rehan Mallik</dc:creator>
  <cp:lastModifiedBy>Rehan Mallik</cp:lastModifiedBy>
  <cp:revision>1</cp:revision>
  <dcterms:created xsi:type="dcterms:W3CDTF">2026-10-10T14:19:25Z</dcterms:created>
  <dcterms:modified xsi:type="dcterms:W3CDTF">2026-10-10T14:19:25Z</dcterms:modified>
</cp:coreProperties>
</file>